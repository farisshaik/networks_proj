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44" r:id="rId1"/>
  </p:sldMasterIdLst>
  <p:notesMasterIdLst>
    <p:notesMasterId r:id="rId19"/>
  </p:notesMasterIdLst>
  <p:handoutMasterIdLst>
    <p:handoutMasterId r:id="rId20"/>
  </p:handoutMasterIdLst>
  <p:sldIdLst>
    <p:sldId id="582" r:id="rId2"/>
    <p:sldId id="612" r:id="rId3"/>
    <p:sldId id="613" r:id="rId4"/>
    <p:sldId id="614" r:id="rId5"/>
    <p:sldId id="634" r:id="rId6"/>
    <p:sldId id="615" r:id="rId7"/>
    <p:sldId id="628" r:id="rId8"/>
    <p:sldId id="629" r:id="rId9"/>
    <p:sldId id="630" r:id="rId10"/>
    <p:sldId id="631" r:id="rId11"/>
    <p:sldId id="627" r:id="rId12"/>
    <p:sldId id="633" r:id="rId13"/>
    <p:sldId id="626" r:id="rId14"/>
    <p:sldId id="617" r:id="rId15"/>
    <p:sldId id="618" r:id="rId16"/>
    <p:sldId id="619" r:id="rId17"/>
    <p:sldId id="620" r:id="rId18"/>
  </p:sldIdLst>
  <p:sldSz cx="9144000" cy="6858000" type="letter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400" b="1" kern="1200">
        <a:solidFill>
          <a:schemeClr val="tx1"/>
        </a:solidFill>
        <a:latin typeface="Palatino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400" b="1" kern="1200">
        <a:solidFill>
          <a:schemeClr val="tx1"/>
        </a:solidFill>
        <a:latin typeface="Palatino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400" b="1" kern="1200">
        <a:solidFill>
          <a:schemeClr val="tx1"/>
        </a:solidFill>
        <a:latin typeface="Palatino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400" b="1" kern="1200">
        <a:solidFill>
          <a:schemeClr val="tx1"/>
        </a:solidFill>
        <a:latin typeface="Palatino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400" b="1" kern="1200">
        <a:solidFill>
          <a:schemeClr val="tx1"/>
        </a:solidFill>
        <a:latin typeface="Palatino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3400" b="1" kern="1200">
        <a:solidFill>
          <a:schemeClr val="tx1"/>
        </a:solidFill>
        <a:latin typeface="Palatino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3400" b="1" kern="1200">
        <a:solidFill>
          <a:schemeClr val="tx1"/>
        </a:solidFill>
        <a:latin typeface="Palatino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3400" b="1" kern="1200">
        <a:solidFill>
          <a:schemeClr val="tx1"/>
        </a:solidFill>
        <a:latin typeface="Palatino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3400" b="1" kern="1200">
        <a:solidFill>
          <a:schemeClr val="tx1"/>
        </a:solidFill>
        <a:latin typeface="Palatino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6A3"/>
    <a:srgbClr val="3D0BF3"/>
    <a:srgbClr val="FDAD23"/>
    <a:srgbClr val="6699FF"/>
    <a:srgbClr val="100341"/>
    <a:srgbClr val="06F817"/>
    <a:srgbClr val="000252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312A19-EB23-4906-AFE5-CF2FDBBD0DBA}" v="1" dt="2026-02-26T14:46:49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170035" y="9742428"/>
            <a:ext cx="800140" cy="2772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4576" tIns="48148" rIns="94576" bIns="48148">
            <a:spAutoFit/>
          </a:bodyPr>
          <a:lstStyle/>
          <a:p>
            <a:pPr algn="ctr" defTabSz="940611">
              <a:lnSpc>
                <a:spcPct val="90000"/>
              </a:lnSpc>
            </a:pPr>
            <a:r>
              <a:rPr lang="en-US" sz="1300" b="0">
                <a:latin typeface="Book Antiqua" charset="0"/>
              </a:rPr>
              <a:t>Page </a:t>
            </a:r>
            <a:fld id="{18C13C5D-C191-4C94-9A6D-A41476D16A16}" type="slidenum">
              <a:rPr lang="en-US" sz="1300" b="0">
                <a:latin typeface="Book Antiqua" charset="0"/>
              </a:rPr>
              <a:pPr algn="ctr" defTabSz="940611">
                <a:lnSpc>
                  <a:spcPct val="90000"/>
                </a:lnSpc>
              </a:pPr>
              <a:t>‹#›</a:t>
            </a:fld>
            <a:endParaRPr lang="en-US" sz="1300" b="0">
              <a:latin typeface="Book Antiqu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9178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73287" y="3686949"/>
            <a:ext cx="6197098" cy="58653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8016" tIns="48148" rIns="98016" bIns="481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128951" y="9742428"/>
            <a:ext cx="800140" cy="2772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4576" tIns="48148" rIns="94576" bIns="48148">
            <a:spAutoFit/>
          </a:bodyPr>
          <a:lstStyle/>
          <a:p>
            <a:pPr algn="ctr" defTabSz="940611">
              <a:lnSpc>
                <a:spcPct val="90000"/>
              </a:lnSpc>
            </a:pPr>
            <a:r>
              <a:rPr lang="en-US" sz="1300" b="0">
                <a:latin typeface="Book Antiqua" charset="0"/>
              </a:rPr>
              <a:t>Page </a:t>
            </a:r>
            <a:fld id="{16B45E98-2F0D-45B1-9CBD-03B38AE2B380}" type="slidenum">
              <a:rPr lang="en-US" sz="1300" b="0">
                <a:latin typeface="Book Antiqua" charset="0"/>
              </a:rPr>
              <a:pPr algn="ctr" defTabSz="940611">
                <a:lnSpc>
                  <a:spcPct val="90000"/>
                </a:lnSpc>
              </a:pPr>
              <a:t>‹#›</a:t>
            </a:fld>
            <a:endParaRPr lang="en-US" sz="1300" b="0">
              <a:latin typeface="Book Antiqua" charset="0"/>
            </a:endParaRPr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34925"/>
            <a:ext cx="4660900" cy="3495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7435927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Palatino" pitchFamily="-110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Palatino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Palatino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Palatino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Palatino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21088" y="9721869"/>
            <a:ext cx="3076672" cy="511053"/>
          </a:xfrm>
          <a:prstGeom prst="rect">
            <a:avLst/>
          </a:prstGeom>
          <a:noFill/>
        </p:spPr>
        <p:txBody>
          <a:bodyPr lIns="93689" tIns="46845" rIns="93689" bIns="46845"/>
          <a:lstStyle/>
          <a:p>
            <a:fld id="{27EE88DE-6475-4D40-9038-BC669E32756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How to write a network app?</a:t>
            </a:r>
          </a:p>
          <a:p>
            <a:pPr marL="171450" indent="-171450">
              <a:buFontTx/>
              <a:buChar char="-"/>
            </a:pPr>
            <a:r>
              <a:rPr lang="en-US"/>
              <a:t>What/why/how of sockets?</a:t>
            </a:r>
          </a:p>
          <a:p>
            <a:pPr marL="171450" indent="-171450">
              <a:buFontTx/>
              <a:buChar char="-"/>
            </a:pPr>
            <a:r>
              <a:rPr lang="en-US"/>
              <a:t>How multiple net apps  in a host is assigned an address?</a:t>
            </a:r>
          </a:p>
          <a:p>
            <a:pPr marL="171450" indent="-171450">
              <a:buFontTx/>
              <a:buChar char="-"/>
            </a:pPr>
            <a:r>
              <a:rPr lang="en-US"/>
              <a:t>How to use sockets in a network app using Java?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34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50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99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53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8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85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9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2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12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08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4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81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77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87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1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2-</a:t>
            </a:r>
            <a:fld id="{A5AC7B5A-03E5-4A34-8163-54A09966A9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7741-1559-4023-8E4B-576D2D59AA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5.bin"/><Relationship Id="rId4" Type="http://schemas.openxmlformats.org/officeDocument/2006/relationships/image" Target="../media/image1.wmf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85786" y="1000108"/>
            <a:ext cx="7772400" cy="147002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b="1">
                <a:solidFill>
                  <a:srgbClr val="C00000"/>
                </a:solidFill>
                <a:latin typeface="Candara" pitchFamily="34" charset="0"/>
              </a:rPr>
              <a:t>CE/CS/TE 4390</a:t>
            </a:r>
            <a:br>
              <a:rPr lang="en-US" b="1">
                <a:solidFill>
                  <a:srgbClr val="C00000"/>
                </a:solidFill>
                <a:latin typeface="Candara" pitchFamily="34" charset="0"/>
              </a:rPr>
            </a:br>
            <a:r>
              <a:rPr lang="en-US" b="1">
                <a:solidFill>
                  <a:srgbClr val="C00000"/>
                </a:solidFill>
                <a:latin typeface="Candara" pitchFamily="34" charset="0"/>
              </a:rPr>
              <a:t>Computer Networks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42910" y="5105400"/>
            <a:ext cx="7858180" cy="1752600"/>
          </a:xfrm>
        </p:spPr>
        <p:txBody>
          <a:bodyPr>
            <a:normAutofit/>
          </a:bodyPr>
          <a:lstStyle/>
          <a:p>
            <a:pPr>
              <a:defRPr/>
            </a:pPr>
            <a:endParaRPr lang="en-US" sz="2800" b="1" i="1">
              <a:solidFill>
                <a:srgbClr val="0006A3"/>
              </a:solidFill>
              <a:latin typeface="Calibri" pitchFamily="34" charset="0"/>
            </a:endParaRPr>
          </a:p>
          <a:p>
            <a:pPr>
              <a:defRPr/>
            </a:pPr>
            <a:r>
              <a:rPr lang="en-US" sz="2800" b="1" i="1">
                <a:solidFill>
                  <a:srgbClr val="0006A3"/>
                </a:solidFill>
                <a:latin typeface="Calibri" pitchFamily="34" charset="0"/>
              </a:rPr>
              <a:t>Network Application Programming – An Overview</a:t>
            </a:r>
          </a:p>
        </p:txBody>
      </p:sp>
      <p:grpSp>
        <p:nvGrpSpPr>
          <p:cNvPr id="231" name="Group 8"/>
          <p:cNvGrpSpPr>
            <a:grpSpLocks/>
          </p:cNvGrpSpPr>
          <p:nvPr/>
        </p:nvGrpSpPr>
        <p:grpSpPr bwMode="auto">
          <a:xfrm>
            <a:off x="7429520" y="428604"/>
            <a:ext cx="1095375" cy="431800"/>
            <a:chOff x="4368" y="1920"/>
            <a:chExt cx="690" cy="272"/>
          </a:xfrm>
        </p:grpSpPr>
        <p:sp>
          <p:nvSpPr>
            <p:cNvPr id="232" name="AutoShape 5"/>
            <p:cNvSpPr>
              <a:spLocks noChangeArrowheads="1"/>
            </p:cNvSpPr>
            <p:nvPr/>
          </p:nvSpPr>
          <p:spPr bwMode="auto">
            <a:xfrm>
              <a:off x="4368" y="1920"/>
              <a:ext cx="684" cy="272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254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3" name="AutoShape 6"/>
            <p:cNvSpPr>
              <a:spLocks noChangeArrowheads="1"/>
            </p:cNvSpPr>
            <p:nvPr/>
          </p:nvSpPr>
          <p:spPr bwMode="auto">
            <a:xfrm>
              <a:off x="4368" y="1920"/>
              <a:ext cx="416" cy="272"/>
            </a:xfrm>
            <a:prstGeom prst="roundRect">
              <a:avLst>
                <a:gd name="adj" fmla="val 12495"/>
              </a:avLst>
            </a:prstGeom>
            <a:solidFill>
              <a:srgbClr val="FF3300"/>
            </a:solidFill>
            <a:ln w="25400">
              <a:solidFill>
                <a:srgbClr val="009900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36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UT</a:t>
              </a:r>
            </a:p>
          </p:txBody>
        </p:sp>
        <p:sp>
          <p:nvSpPr>
            <p:cNvPr id="234" name="AutoShape 7"/>
            <p:cNvSpPr>
              <a:spLocks noChangeArrowheads="1"/>
            </p:cNvSpPr>
            <p:nvPr/>
          </p:nvSpPr>
          <p:spPr bwMode="auto">
            <a:xfrm>
              <a:off x="4786" y="1920"/>
              <a:ext cx="272" cy="272"/>
            </a:xfrm>
            <a:prstGeom prst="roundRect">
              <a:avLst>
                <a:gd name="adj" fmla="val 12495"/>
              </a:avLst>
            </a:prstGeom>
            <a:solidFill>
              <a:srgbClr val="FF3300"/>
            </a:solidFill>
            <a:ln w="25400">
              <a:solidFill>
                <a:srgbClr val="009900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36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1267" name="Group 1266"/>
          <p:cNvGrpSpPr/>
          <p:nvPr/>
        </p:nvGrpSpPr>
        <p:grpSpPr>
          <a:xfrm>
            <a:off x="2339752" y="2564904"/>
            <a:ext cx="4441814" cy="2425700"/>
            <a:chOff x="2273295" y="2867028"/>
            <a:chExt cx="4441814" cy="2425700"/>
          </a:xfrm>
        </p:grpSpPr>
        <p:grpSp>
          <p:nvGrpSpPr>
            <p:cNvPr id="1040" name="Group 619"/>
            <p:cNvGrpSpPr>
              <a:grpSpLocks/>
            </p:cNvGrpSpPr>
            <p:nvPr/>
          </p:nvGrpSpPr>
          <p:grpSpPr bwMode="auto">
            <a:xfrm>
              <a:off x="5286380" y="3714752"/>
              <a:ext cx="1428729" cy="965200"/>
              <a:chOff x="4047" y="420"/>
              <a:chExt cx="658" cy="608"/>
            </a:xfrm>
          </p:grpSpPr>
          <p:sp>
            <p:nvSpPr>
              <p:cNvPr id="1041" name="Rectangle 227"/>
              <p:cNvSpPr>
                <a:spLocks noChangeArrowheads="1"/>
              </p:cNvSpPr>
              <p:nvPr/>
            </p:nvSpPr>
            <p:spPr bwMode="auto">
              <a:xfrm>
                <a:off x="4266" y="420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42" name="Rectangle 228"/>
              <p:cNvSpPr>
                <a:spLocks noChangeArrowheads="1"/>
              </p:cNvSpPr>
              <p:nvPr/>
            </p:nvSpPr>
            <p:spPr bwMode="auto">
              <a:xfrm>
                <a:off x="4245" y="435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43" name="Rectangle 229"/>
              <p:cNvSpPr>
                <a:spLocks noChangeArrowheads="1"/>
              </p:cNvSpPr>
              <p:nvPr/>
            </p:nvSpPr>
            <p:spPr bwMode="auto">
              <a:xfrm>
                <a:off x="4251" y="438"/>
                <a:ext cx="426" cy="126"/>
              </a:xfrm>
              <a:prstGeom prst="rect">
                <a:avLst/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44" name="Text Box 230"/>
              <p:cNvSpPr txBox="1">
                <a:spLocks noChangeArrowheads="1"/>
              </p:cNvSpPr>
              <p:nvPr/>
            </p:nvSpPr>
            <p:spPr bwMode="auto">
              <a:xfrm>
                <a:off x="4192" y="420"/>
                <a:ext cx="513" cy="5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000">
                    <a:solidFill>
                      <a:schemeClr val="bg1"/>
                    </a:solidFill>
                  </a:rPr>
                  <a:t>application</a:t>
                </a:r>
                <a:endParaRPr lang="en-US" sz="10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000"/>
                  <a:t>transport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000"/>
                  <a:t>network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000"/>
                  <a:t>data link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000"/>
                  <a:t>physical</a:t>
                </a:r>
                <a:endParaRPr lang="en-US" sz="2400"/>
              </a:p>
            </p:txBody>
          </p:sp>
          <p:sp>
            <p:nvSpPr>
              <p:cNvPr id="1045" name="Line 231"/>
              <p:cNvSpPr>
                <a:spLocks noChangeShapeType="1"/>
              </p:cNvSpPr>
              <p:nvPr/>
            </p:nvSpPr>
            <p:spPr bwMode="auto">
              <a:xfrm>
                <a:off x="4245" y="651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6" name="Line 232"/>
              <p:cNvSpPr>
                <a:spLocks noChangeShapeType="1"/>
              </p:cNvSpPr>
              <p:nvPr/>
            </p:nvSpPr>
            <p:spPr bwMode="auto">
              <a:xfrm>
                <a:off x="4251" y="73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7" name="Line 233"/>
              <p:cNvSpPr>
                <a:spLocks noChangeShapeType="1"/>
              </p:cNvSpPr>
              <p:nvPr/>
            </p:nvSpPr>
            <p:spPr bwMode="auto">
              <a:xfrm>
                <a:off x="4251" y="82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8" name="Freeform 917"/>
              <p:cNvSpPr>
                <a:spLocks/>
              </p:cNvSpPr>
              <p:nvPr/>
            </p:nvSpPr>
            <p:spPr bwMode="auto">
              <a:xfrm>
                <a:off x="4047" y="434"/>
                <a:ext cx="192" cy="594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2" h="594">
                    <a:moveTo>
                      <a:pt x="0" y="594"/>
                    </a:moveTo>
                    <a:lnTo>
                      <a:pt x="192" y="0"/>
                    </a:lnTo>
                    <a:lnTo>
                      <a:pt x="192" y="515"/>
                    </a:lnTo>
                    <a:lnTo>
                      <a:pt x="0" y="594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CC0000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49" name="Group 379"/>
            <p:cNvGrpSpPr>
              <a:grpSpLocks/>
            </p:cNvGrpSpPr>
            <p:nvPr/>
          </p:nvGrpSpPr>
          <p:grpSpPr bwMode="auto">
            <a:xfrm>
              <a:off x="2273295" y="2867028"/>
              <a:ext cx="3124200" cy="2425700"/>
              <a:chOff x="3360" y="1680"/>
              <a:chExt cx="1968" cy="1528"/>
            </a:xfrm>
          </p:grpSpPr>
          <p:sp>
            <p:nvSpPr>
              <p:cNvPr id="1050" name="Freeform 44"/>
              <p:cNvSpPr>
                <a:spLocks/>
              </p:cNvSpPr>
              <p:nvPr/>
            </p:nvSpPr>
            <p:spPr bwMode="auto">
              <a:xfrm>
                <a:off x="4365" y="1740"/>
                <a:ext cx="963" cy="697"/>
              </a:xfrm>
              <a:custGeom>
                <a:avLst/>
                <a:gdLst>
                  <a:gd name="T0" fmla="*/ 55 w 1292"/>
                  <a:gd name="T1" fmla="*/ 1 h 1255"/>
                  <a:gd name="T2" fmla="*/ 7 w 1292"/>
                  <a:gd name="T3" fmla="*/ 8 h 1255"/>
                  <a:gd name="T4" fmla="*/ 7 w 1292"/>
                  <a:gd name="T5" fmla="*/ 27 h 1255"/>
                  <a:gd name="T6" fmla="*/ 12 w 1292"/>
                  <a:gd name="T7" fmla="*/ 44 h 1255"/>
                  <a:gd name="T8" fmla="*/ 56 w 1292"/>
                  <a:gd name="T9" fmla="*/ 46 h 1255"/>
                  <a:gd name="T10" fmla="*/ 149 w 1292"/>
                  <a:gd name="T11" fmla="*/ 59 h 1255"/>
                  <a:gd name="T12" fmla="*/ 229 w 1292"/>
                  <a:gd name="T13" fmla="*/ 66 h 1255"/>
                  <a:gd name="T14" fmla="*/ 276 w 1292"/>
                  <a:gd name="T15" fmla="*/ 54 h 1255"/>
                  <a:gd name="T16" fmla="*/ 292 w 1292"/>
                  <a:gd name="T17" fmla="*/ 23 h 1255"/>
                  <a:gd name="T18" fmla="*/ 277 w 1292"/>
                  <a:gd name="T19" fmla="*/ 11 h 1255"/>
                  <a:gd name="T20" fmla="*/ 172 w 1292"/>
                  <a:gd name="T21" fmla="*/ 6 h 1255"/>
                  <a:gd name="T22" fmla="*/ 55 w 1292"/>
                  <a:gd name="T23" fmla="*/ 1 h 12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92"/>
                  <a:gd name="T37" fmla="*/ 0 h 1255"/>
                  <a:gd name="T38" fmla="*/ 1292 w 1292"/>
                  <a:gd name="T39" fmla="*/ 1255 h 125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92" h="1255">
                    <a:moveTo>
                      <a:pt x="239" y="7"/>
                    </a:moveTo>
                    <a:cubicBezTo>
                      <a:pt x="120" y="14"/>
                      <a:pt x="70" y="71"/>
                      <a:pt x="35" y="157"/>
                    </a:cubicBezTo>
                    <a:cubicBezTo>
                      <a:pt x="0" y="243"/>
                      <a:pt x="26" y="411"/>
                      <a:pt x="29" y="523"/>
                    </a:cubicBezTo>
                    <a:cubicBezTo>
                      <a:pt x="32" y="635"/>
                      <a:pt x="17" y="771"/>
                      <a:pt x="53" y="829"/>
                    </a:cubicBezTo>
                    <a:cubicBezTo>
                      <a:pt x="89" y="887"/>
                      <a:pt x="146" y="821"/>
                      <a:pt x="245" y="871"/>
                    </a:cubicBezTo>
                    <a:cubicBezTo>
                      <a:pt x="344" y="921"/>
                      <a:pt x="522" y="1068"/>
                      <a:pt x="647" y="1129"/>
                    </a:cubicBezTo>
                    <a:cubicBezTo>
                      <a:pt x="772" y="1190"/>
                      <a:pt x="903" y="1255"/>
                      <a:pt x="995" y="1237"/>
                    </a:cubicBezTo>
                    <a:cubicBezTo>
                      <a:pt x="1087" y="1219"/>
                      <a:pt x="1153" y="1153"/>
                      <a:pt x="1199" y="1021"/>
                    </a:cubicBezTo>
                    <a:cubicBezTo>
                      <a:pt x="1245" y="889"/>
                      <a:pt x="1270" y="580"/>
                      <a:pt x="1271" y="445"/>
                    </a:cubicBezTo>
                    <a:cubicBezTo>
                      <a:pt x="1272" y="310"/>
                      <a:pt x="1292" y="266"/>
                      <a:pt x="1205" y="211"/>
                    </a:cubicBezTo>
                    <a:cubicBezTo>
                      <a:pt x="1118" y="156"/>
                      <a:pt x="908" y="150"/>
                      <a:pt x="749" y="115"/>
                    </a:cubicBezTo>
                    <a:cubicBezTo>
                      <a:pt x="590" y="80"/>
                      <a:pt x="358" y="0"/>
                      <a:pt x="239" y="7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1" name="Freeform 45"/>
              <p:cNvSpPr>
                <a:spLocks/>
              </p:cNvSpPr>
              <p:nvPr/>
            </p:nvSpPr>
            <p:spPr bwMode="auto">
              <a:xfrm>
                <a:off x="3360" y="1680"/>
                <a:ext cx="999" cy="662"/>
              </a:xfrm>
              <a:custGeom>
                <a:avLst/>
                <a:gdLst>
                  <a:gd name="T0" fmla="*/ 127 w 1340"/>
                  <a:gd name="T1" fmla="*/ 2 h 1191"/>
                  <a:gd name="T2" fmla="*/ 19 w 1340"/>
                  <a:gd name="T3" fmla="*/ 3 h 1191"/>
                  <a:gd name="T4" fmla="*/ 13 w 1340"/>
                  <a:gd name="T5" fmla="*/ 21 h 1191"/>
                  <a:gd name="T6" fmla="*/ 7 w 1340"/>
                  <a:gd name="T7" fmla="*/ 38 h 1191"/>
                  <a:gd name="T8" fmla="*/ 25 w 1340"/>
                  <a:gd name="T9" fmla="*/ 46 h 1191"/>
                  <a:gd name="T10" fmla="*/ 124 w 1340"/>
                  <a:gd name="T11" fmla="*/ 47 h 1191"/>
                  <a:gd name="T12" fmla="*/ 148 w 1340"/>
                  <a:gd name="T13" fmla="*/ 60 h 1191"/>
                  <a:gd name="T14" fmla="*/ 284 w 1340"/>
                  <a:gd name="T15" fmla="*/ 58 h 1191"/>
                  <a:gd name="T16" fmla="*/ 294 w 1340"/>
                  <a:gd name="T17" fmla="*/ 30 h 1191"/>
                  <a:gd name="T18" fmla="*/ 277 w 1340"/>
                  <a:gd name="T19" fmla="*/ 18 h 1191"/>
                  <a:gd name="T20" fmla="*/ 175 w 1340"/>
                  <a:gd name="T21" fmla="*/ 15 h 1191"/>
                  <a:gd name="T22" fmla="*/ 127 w 1340"/>
                  <a:gd name="T23" fmla="*/ 2 h 119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340"/>
                  <a:gd name="T37" fmla="*/ 0 h 1191"/>
                  <a:gd name="T38" fmla="*/ 1340 w 1340"/>
                  <a:gd name="T39" fmla="*/ 1191 h 119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340" h="1191">
                    <a:moveTo>
                      <a:pt x="550" y="42"/>
                    </a:moveTo>
                    <a:cubicBezTo>
                      <a:pt x="437" y="4"/>
                      <a:pt x="164" y="0"/>
                      <a:pt x="82" y="60"/>
                    </a:cubicBezTo>
                    <a:cubicBezTo>
                      <a:pt x="0" y="120"/>
                      <a:pt x="67" y="292"/>
                      <a:pt x="58" y="402"/>
                    </a:cubicBezTo>
                    <a:cubicBezTo>
                      <a:pt x="49" y="512"/>
                      <a:pt x="19" y="642"/>
                      <a:pt x="28" y="720"/>
                    </a:cubicBezTo>
                    <a:cubicBezTo>
                      <a:pt x="37" y="798"/>
                      <a:pt x="27" y="844"/>
                      <a:pt x="112" y="870"/>
                    </a:cubicBezTo>
                    <a:cubicBezTo>
                      <a:pt x="197" y="896"/>
                      <a:pt x="450" y="833"/>
                      <a:pt x="538" y="876"/>
                    </a:cubicBezTo>
                    <a:cubicBezTo>
                      <a:pt x="626" y="919"/>
                      <a:pt x="524" y="1091"/>
                      <a:pt x="640" y="1128"/>
                    </a:cubicBezTo>
                    <a:cubicBezTo>
                      <a:pt x="756" y="1165"/>
                      <a:pt x="1128" y="1191"/>
                      <a:pt x="1234" y="1098"/>
                    </a:cubicBezTo>
                    <a:cubicBezTo>
                      <a:pt x="1340" y="1005"/>
                      <a:pt x="1281" y="696"/>
                      <a:pt x="1276" y="570"/>
                    </a:cubicBezTo>
                    <a:cubicBezTo>
                      <a:pt x="1271" y="444"/>
                      <a:pt x="1290" y="389"/>
                      <a:pt x="1204" y="342"/>
                    </a:cubicBezTo>
                    <a:cubicBezTo>
                      <a:pt x="1118" y="295"/>
                      <a:pt x="868" y="338"/>
                      <a:pt x="760" y="288"/>
                    </a:cubicBezTo>
                    <a:cubicBezTo>
                      <a:pt x="652" y="238"/>
                      <a:pt x="663" y="80"/>
                      <a:pt x="550" y="4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2" name="Freeform 46"/>
              <p:cNvSpPr>
                <a:spLocks/>
              </p:cNvSpPr>
              <p:nvPr/>
            </p:nvSpPr>
            <p:spPr bwMode="auto">
              <a:xfrm>
                <a:off x="3557" y="2285"/>
                <a:ext cx="1591" cy="923"/>
              </a:xfrm>
              <a:custGeom>
                <a:avLst/>
                <a:gdLst>
                  <a:gd name="T0" fmla="*/ 6 w 2135"/>
                  <a:gd name="T1" fmla="*/ 34 h 1662"/>
                  <a:gd name="T2" fmla="*/ 24 w 2135"/>
                  <a:gd name="T3" fmla="*/ 4 h 1662"/>
                  <a:gd name="T4" fmla="*/ 151 w 2135"/>
                  <a:gd name="T5" fmla="*/ 11 h 1662"/>
                  <a:gd name="T6" fmla="*/ 278 w 2135"/>
                  <a:gd name="T7" fmla="*/ 5 h 1662"/>
                  <a:gd name="T8" fmla="*/ 460 w 2135"/>
                  <a:gd name="T9" fmla="*/ 21 h 1662"/>
                  <a:gd name="T10" fmla="*/ 463 w 2135"/>
                  <a:gd name="T11" fmla="*/ 61 h 1662"/>
                  <a:gd name="T12" fmla="*/ 363 w 2135"/>
                  <a:gd name="T13" fmla="*/ 84 h 1662"/>
                  <a:gd name="T14" fmla="*/ 187 w 2135"/>
                  <a:gd name="T15" fmla="*/ 80 h 1662"/>
                  <a:gd name="T16" fmla="*/ 115 w 2135"/>
                  <a:gd name="T17" fmla="*/ 67 h 1662"/>
                  <a:gd name="T18" fmla="*/ 42 w 2135"/>
                  <a:gd name="T19" fmla="*/ 57 h 1662"/>
                  <a:gd name="T20" fmla="*/ 6 w 2135"/>
                  <a:gd name="T21" fmla="*/ 34 h 16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35"/>
                  <a:gd name="T34" fmla="*/ 0 h 1662"/>
                  <a:gd name="T35" fmla="*/ 2135 w 2135"/>
                  <a:gd name="T36" fmla="*/ 1662 h 166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35" h="1662">
                    <a:moveTo>
                      <a:pt x="27" y="652"/>
                    </a:moveTo>
                    <a:cubicBezTo>
                      <a:pt x="14" y="487"/>
                      <a:pt x="0" y="152"/>
                      <a:pt x="105" y="76"/>
                    </a:cubicBezTo>
                    <a:cubicBezTo>
                      <a:pt x="210" y="0"/>
                      <a:pt x="473" y="192"/>
                      <a:pt x="657" y="196"/>
                    </a:cubicBezTo>
                    <a:cubicBezTo>
                      <a:pt x="841" y="200"/>
                      <a:pt x="985" y="65"/>
                      <a:pt x="1209" y="100"/>
                    </a:cubicBezTo>
                    <a:cubicBezTo>
                      <a:pt x="1433" y="135"/>
                      <a:pt x="1867" y="232"/>
                      <a:pt x="2001" y="406"/>
                    </a:cubicBezTo>
                    <a:cubicBezTo>
                      <a:pt x="2135" y="580"/>
                      <a:pt x="2083" y="945"/>
                      <a:pt x="2013" y="1144"/>
                    </a:cubicBezTo>
                    <a:cubicBezTo>
                      <a:pt x="1943" y="1343"/>
                      <a:pt x="1781" y="1538"/>
                      <a:pt x="1581" y="1600"/>
                    </a:cubicBezTo>
                    <a:cubicBezTo>
                      <a:pt x="1381" y="1662"/>
                      <a:pt x="993" y="1571"/>
                      <a:pt x="813" y="1516"/>
                    </a:cubicBezTo>
                    <a:cubicBezTo>
                      <a:pt x="633" y="1461"/>
                      <a:pt x="606" y="1345"/>
                      <a:pt x="501" y="1270"/>
                    </a:cubicBezTo>
                    <a:cubicBezTo>
                      <a:pt x="396" y="1195"/>
                      <a:pt x="262" y="1169"/>
                      <a:pt x="183" y="1066"/>
                    </a:cubicBezTo>
                    <a:cubicBezTo>
                      <a:pt x="104" y="963"/>
                      <a:pt x="25" y="819"/>
                      <a:pt x="27" y="652"/>
                    </a:cubicBezTo>
                    <a:close/>
                  </a:path>
                </a:pathLst>
              </a:custGeom>
              <a:solidFill>
                <a:srgbClr val="CC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53" name="Group 47"/>
              <p:cNvGrpSpPr>
                <a:grpSpLocks/>
              </p:cNvGrpSpPr>
              <p:nvPr/>
            </p:nvGrpSpPr>
            <p:grpSpPr bwMode="auto">
              <a:xfrm>
                <a:off x="3416" y="1737"/>
                <a:ext cx="391" cy="133"/>
                <a:chOff x="3552" y="246"/>
                <a:chExt cx="527" cy="248"/>
              </a:xfrm>
            </p:grpSpPr>
            <p:graphicFrame>
              <p:nvGraphicFramePr>
                <p:cNvPr id="1264" name="Object 48"/>
                <p:cNvGraphicFramePr>
                  <a:graphicFrameLocks noChangeAspect="1"/>
                </p:cNvGraphicFramePr>
                <p:nvPr/>
              </p:nvGraphicFramePr>
              <p:xfrm>
                <a:off x="3552" y="246"/>
                <a:ext cx="299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1305000" imgH="1085760" progId="">
                        <p:embed/>
                      </p:oleObj>
                    </mc:Choice>
                    <mc:Fallback>
                      <p:oleObj name="Clip" r:id="rId3" imgW="1305000" imgH="1085760" progId="">
                        <p:embed/>
                        <p:pic>
                          <p:nvPicPr>
                            <p:cNvPr id="1264" name="Object 4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52" y="246"/>
                              <a:ext cx="299" cy="24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65" name="Object 49"/>
                <p:cNvGraphicFramePr>
                  <a:graphicFrameLocks noChangeAspect="1"/>
                </p:cNvGraphicFramePr>
                <p:nvPr/>
              </p:nvGraphicFramePr>
              <p:xfrm>
                <a:off x="3878" y="338"/>
                <a:ext cx="201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681706" imgH="480401" progId="">
                        <p:embed/>
                      </p:oleObj>
                    </mc:Choice>
                    <mc:Fallback>
                      <p:oleObj name="Clip" r:id="rId5" imgW="681706" imgH="480401" progId="">
                        <p:embed/>
                        <p:pic>
                          <p:nvPicPr>
                            <p:cNvPr id="1265" name="Object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78" y="338"/>
                              <a:ext cx="201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66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3844" y="434"/>
                  <a:ext cx="82" cy="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4" name="Group 51"/>
              <p:cNvGrpSpPr>
                <a:grpSpLocks/>
              </p:cNvGrpSpPr>
              <p:nvPr/>
            </p:nvGrpSpPr>
            <p:grpSpPr bwMode="auto">
              <a:xfrm>
                <a:off x="3416" y="1985"/>
                <a:ext cx="391" cy="133"/>
                <a:chOff x="3552" y="246"/>
                <a:chExt cx="527" cy="248"/>
              </a:xfrm>
            </p:grpSpPr>
            <p:graphicFrame>
              <p:nvGraphicFramePr>
                <p:cNvPr id="1261" name="Object 52"/>
                <p:cNvGraphicFramePr>
                  <a:graphicFrameLocks noChangeAspect="1"/>
                </p:cNvGraphicFramePr>
                <p:nvPr/>
              </p:nvGraphicFramePr>
              <p:xfrm>
                <a:off x="3552" y="246"/>
                <a:ext cx="299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1305000" imgH="1085760" progId="">
                        <p:embed/>
                      </p:oleObj>
                    </mc:Choice>
                    <mc:Fallback>
                      <p:oleObj name="Clip" r:id="rId3" imgW="1305000" imgH="1085760" progId="">
                        <p:embed/>
                        <p:pic>
                          <p:nvPicPr>
                            <p:cNvPr id="1261" name="Object 5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52" y="246"/>
                              <a:ext cx="299" cy="24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62" name="Object 53"/>
                <p:cNvGraphicFramePr>
                  <a:graphicFrameLocks noChangeAspect="1"/>
                </p:cNvGraphicFramePr>
                <p:nvPr/>
              </p:nvGraphicFramePr>
              <p:xfrm>
                <a:off x="3878" y="338"/>
                <a:ext cx="201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681706" imgH="480401" progId="">
                        <p:embed/>
                      </p:oleObj>
                    </mc:Choice>
                    <mc:Fallback>
                      <p:oleObj name="Clip" r:id="rId5" imgW="681706" imgH="480401" progId="">
                        <p:embed/>
                        <p:pic>
                          <p:nvPicPr>
                            <p:cNvPr id="1262" name="Object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78" y="338"/>
                              <a:ext cx="201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63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3844" y="434"/>
                  <a:ext cx="82" cy="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5" name="Group 55"/>
              <p:cNvGrpSpPr>
                <a:grpSpLocks/>
              </p:cNvGrpSpPr>
              <p:nvPr/>
            </p:nvGrpSpPr>
            <p:grpSpPr bwMode="auto">
              <a:xfrm>
                <a:off x="3474" y="1896"/>
                <a:ext cx="36" cy="89"/>
                <a:chOff x="3842" y="406"/>
                <a:chExt cx="51" cy="167"/>
              </a:xfrm>
            </p:grpSpPr>
            <p:sp>
              <p:nvSpPr>
                <p:cNvPr id="1258" name="Oval 56"/>
                <p:cNvSpPr>
                  <a:spLocks noChangeArrowheads="1"/>
                </p:cNvSpPr>
                <p:nvPr/>
              </p:nvSpPr>
              <p:spPr bwMode="auto">
                <a:xfrm>
                  <a:off x="3842" y="40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9" name="Oval 57"/>
                <p:cNvSpPr>
                  <a:spLocks noChangeArrowheads="1"/>
                </p:cNvSpPr>
                <p:nvPr/>
              </p:nvSpPr>
              <p:spPr bwMode="auto">
                <a:xfrm>
                  <a:off x="3844" y="46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60" name="Oval 58"/>
                <p:cNvSpPr>
                  <a:spLocks noChangeArrowheads="1"/>
                </p:cNvSpPr>
                <p:nvPr/>
              </p:nvSpPr>
              <p:spPr bwMode="auto">
                <a:xfrm>
                  <a:off x="3846" y="52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6" name="Group 59"/>
              <p:cNvGrpSpPr>
                <a:grpSpLocks/>
              </p:cNvGrpSpPr>
              <p:nvPr/>
            </p:nvGrpSpPr>
            <p:grpSpPr bwMode="auto">
              <a:xfrm>
                <a:off x="3876" y="2103"/>
                <a:ext cx="111" cy="164"/>
                <a:chOff x="4180" y="783"/>
                <a:chExt cx="150" cy="307"/>
              </a:xfrm>
            </p:grpSpPr>
            <p:sp>
              <p:nvSpPr>
                <p:cNvPr id="1250" name="AutoShape 60"/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1" name="Rectangle 61"/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2" name="Rectangle 62"/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3" name="AutoShape 63"/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4" name="Line 64"/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5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6" name="Rectangle 66"/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7" name="Rectangle 67"/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7" name="Group 68"/>
              <p:cNvGrpSpPr>
                <a:grpSpLocks/>
              </p:cNvGrpSpPr>
              <p:nvPr/>
            </p:nvGrpSpPr>
            <p:grpSpPr bwMode="auto">
              <a:xfrm rot="-5400000">
                <a:off x="4048" y="2275"/>
                <a:ext cx="32" cy="125"/>
                <a:chOff x="3842" y="406"/>
                <a:chExt cx="51" cy="167"/>
              </a:xfrm>
            </p:grpSpPr>
            <p:sp>
              <p:nvSpPr>
                <p:cNvPr id="1247" name="Oval 69"/>
                <p:cNvSpPr>
                  <a:spLocks noChangeArrowheads="1"/>
                </p:cNvSpPr>
                <p:nvPr/>
              </p:nvSpPr>
              <p:spPr bwMode="auto">
                <a:xfrm>
                  <a:off x="3842" y="40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8" name="Oval 70"/>
                <p:cNvSpPr>
                  <a:spLocks noChangeArrowheads="1"/>
                </p:cNvSpPr>
                <p:nvPr/>
              </p:nvSpPr>
              <p:spPr bwMode="auto">
                <a:xfrm>
                  <a:off x="3844" y="46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" name="Oval 71"/>
                <p:cNvSpPr>
                  <a:spLocks noChangeArrowheads="1"/>
                </p:cNvSpPr>
                <p:nvPr/>
              </p:nvSpPr>
              <p:spPr bwMode="auto">
                <a:xfrm>
                  <a:off x="3846" y="52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58" name="Line 72"/>
              <p:cNvSpPr>
                <a:spLocks noChangeShapeType="1"/>
              </p:cNvSpPr>
              <p:nvPr/>
            </p:nvSpPr>
            <p:spPr bwMode="auto">
              <a:xfrm>
                <a:off x="3949" y="2067"/>
                <a:ext cx="26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9" name="Line 73"/>
              <p:cNvSpPr>
                <a:spLocks noChangeShapeType="1"/>
              </p:cNvSpPr>
              <p:nvPr/>
            </p:nvSpPr>
            <p:spPr bwMode="auto">
              <a:xfrm>
                <a:off x="3950" y="2066"/>
                <a:ext cx="1" cy="3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0" name="Line 74"/>
              <p:cNvSpPr>
                <a:spLocks noChangeShapeType="1"/>
              </p:cNvSpPr>
              <p:nvPr/>
            </p:nvSpPr>
            <p:spPr bwMode="auto">
              <a:xfrm>
                <a:off x="4215" y="2065"/>
                <a:ext cx="1" cy="3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1" name="Line 75"/>
              <p:cNvSpPr>
                <a:spLocks noChangeShapeType="1"/>
              </p:cNvSpPr>
              <p:nvPr/>
            </p:nvSpPr>
            <p:spPr bwMode="auto">
              <a:xfrm>
                <a:off x="3788" y="1842"/>
                <a:ext cx="155" cy="11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2" name="Line 76"/>
              <p:cNvSpPr>
                <a:spLocks noChangeShapeType="1"/>
              </p:cNvSpPr>
              <p:nvPr/>
            </p:nvSpPr>
            <p:spPr bwMode="auto">
              <a:xfrm flipV="1">
                <a:off x="3795" y="1961"/>
                <a:ext cx="148" cy="1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3" name="Line 77"/>
              <p:cNvSpPr>
                <a:spLocks noChangeShapeType="1"/>
              </p:cNvSpPr>
              <p:nvPr/>
            </p:nvSpPr>
            <p:spPr bwMode="auto">
              <a:xfrm flipV="1">
                <a:off x="4077" y="1997"/>
                <a:ext cx="1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64" name="Group 78"/>
              <p:cNvGrpSpPr>
                <a:grpSpLocks/>
              </p:cNvGrpSpPr>
              <p:nvPr/>
            </p:nvGrpSpPr>
            <p:grpSpPr bwMode="auto">
              <a:xfrm>
                <a:off x="4141" y="2094"/>
                <a:ext cx="112" cy="164"/>
                <a:chOff x="4180" y="783"/>
                <a:chExt cx="150" cy="307"/>
              </a:xfrm>
            </p:grpSpPr>
            <p:sp>
              <p:nvSpPr>
                <p:cNvPr id="1239" name="AutoShape 79"/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0" name="Rectangle 80"/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1" name="Rectangle 81"/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2" name="AutoShape 82"/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3" name="Line 83"/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4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5" name="Rectangle 85"/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6" name="Rectangle 86"/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65" name="Group 87"/>
              <p:cNvGrpSpPr>
                <a:grpSpLocks/>
              </p:cNvGrpSpPr>
              <p:nvPr/>
            </p:nvGrpSpPr>
            <p:grpSpPr bwMode="auto">
              <a:xfrm>
                <a:off x="3628" y="2356"/>
                <a:ext cx="257" cy="386"/>
                <a:chOff x="3314" y="1248"/>
                <a:chExt cx="344" cy="694"/>
              </a:xfrm>
            </p:grpSpPr>
            <p:graphicFrame>
              <p:nvGraphicFramePr>
                <p:cNvPr id="1230" name="Object 88"/>
                <p:cNvGraphicFramePr>
                  <a:graphicFrameLocks noChangeAspect="1"/>
                </p:cNvGraphicFramePr>
                <p:nvPr/>
              </p:nvGraphicFramePr>
              <p:xfrm>
                <a:off x="3314" y="1248"/>
                <a:ext cx="299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7" imgW="1305000" imgH="1085760" progId="">
                        <p:embed/>
                      </p:oleObj>
                    </mc:Choice>
                    <mc:Fallback>
                      <p:oleObj name="Clip" r:id="rId7" imgW="1305000" imgH="1085760" progId="">
                        <p:embed/>
                        <p:pic>
                          <p:nvPicPr>
                            <p:cNvPr id="1230" name="Object 8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14" y="1248"/>
                              <a:ext cx="299" cy="24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31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3606" y="1433"/>
                  <a:ext cx="52" cy="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1232" name="Object 90"/>
                <p:cNvGraphicFramePr>
                  <a:graphicFrameLocks noChangeAspect="1"/>
                </p:cNvGraphicFramePr>
                <p:nvPr/>
              </p:nvGraphicFramePr>
              <p:xfrm>
                <a:off x="3314" y="1694"/>
                <a:ext cx="299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7" imgW="1305000" imgH="1085760" progId="">
                        <p:embed/>
                      </p:oleObj>
                    </mc:Choice>
                    <mc:Fallback>
                      <p:oleObj name="Clip" r:id="rId7" imgW="1305000" imgH="1085760" progId="">
                        <p:embed/>
                        <p:pic>
                          <p:nvPicPr>
                            <p:cNvPr id="1232" name="Object 9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14" y="1694"/>
                              <a:ext cx="299" cy="24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33" name="Line 91"/>
                <p:cNvSpPr>
                  <a:spLocks noChangeShapeType="1"/>
                </p:cNvSpPr>
                <p:nvPr/>
              </p:nvSpPr>
              <p:spPr bwMode="auto">
                <a:xfrm flipV="1">
                  <a:off x="3606" y="1882"/>
                  <a:ext cx="52" cy="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34" name="Group 92"/>
                <p:cNvGrpSpPr>
                  <a:grpSpLocks/>
                </p:cNvGrpSpPr>
                <p:nvPr/>
              </p:nvGrpSpPr>
              <p:grpSpPr bwMode="auto">
                <a:xfrm>
                  <a:off x="3404" y="1504"/>
                  <a:ext cx="51" cy="167"/>
                  <a:chOff x="3842" y="406"/>
                  <a:chExt cx="51" cy="167"/>
                </a:xfrm>
              </p:grpSpPr>
              <p:sp>
                <p:nvSpPr>
                  <p:cNvPr id="1236" name="Oval 93"/>
                  <p:cNvSpPr>
                    <a:spLocks noChangeArrowheads="1"/>
                  </p:cNvSpPr>
                  <p:nvPr/>
                </p:nvSpPr>
                <p:spPr bwMode="auto">
                  <a:xfrm>
                    <a:off x="3842" y="406"/>
                    <a:ext cx="47" cy="47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37" name="Oval 94"/>
                  <p:cNvSpPr>
                    <a:spLocks noChangeArrowheads="1"/>
                  </p:cNvSpPr>
                  <p:nvPr/>
                </p:nvSpPr>
                <p:spPr bwMode="auto">
                  <a:xfrm>
                    <a:off x="3844" y="466"/>
                    <a:ext cx="47" cy="47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38" name="Oval 95"/>
                  <p:cNvSpPr>
                    <a:spLocks noChangeArrowheads="1"/>
                  </p:cNvSpPr>
                  <p:nvPr/>
                </p:nvSpPr>
                <p:spPr bwMode="auto">
                  <a:xfrm>
                    <a:off x="3846" y="526"/>
                    <a:ext cx="47" cy="47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35" name="Line 96"/>
                <p:cNvSpPr>
                  <a:spLocks noChangeShapeType="1"/>
                </p:cNvSpPr>
                <p:nvPr/>
              </p:nvSpPr>
              <p:spPr bwMode="auto">
                <a:xfrm>
                  <a:off x="3654" y="1431"/>
                  <a:ext cx="0" cy="4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aphicFrame>
            <p:nvGraphicFramePr>
              <p:cNvPr id="1066" name="Object 97"/>
              <p:cNvGraphicFramePr>
                <a:graphicFrameLocks noChangeAspect="1"/>
              </p:cNvGraphicFramePr>
              <p:nvPr/>
            </p:nvGraphicFramePr>
            <p:xfrm>
              <a:off x="4093" y="2774"/>
              <a:ext cx="223" cy="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7" imgW="1305000" imgH="1085760" progId="">
                      <p:embed/>
                    </p:oleObj>
                  </mc:Choice>
                  <mc:Fallback>
                    <p:oleObj name="Clip" r:id="rId7" imgW="1305000" imgH="1085760" progId="">
                      <p:embed/>
                      <p:pic>
                        <p:nvPicPr>
                          <p:cNvPr id="1066" name="Object 9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3" y="2774"/>
                            <a:ext cx="223" cy="1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67" name="Object 98"/>
              <p:cNvGraphicFramePr>
                <a:graphicFrameLocks noChangeAspect="1"/>
              </p:cNvGraphicFramePr>
              <p:nvPr/>
            </p:nvGraphicFramePr>
            <p:xfrm>
              <a:off x="3764" y="2769"/>
              <a:ext cx="223" cy="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7" imgW="1305000" imgH="1085760" progId="">
                      <p:embed/>
                    </p:oleObj>
                  </mc:Choice>
                  <mc:Fallback>
                    <p:oleObj name="Clip" r:id="rId7" imgW="1305000" imgH="1085760" progId="">
                      <p:embed/>
                      <p:pic>
                        <p:nvPicPr>
                          <p:cNvPr id="1067" name="Object 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4" y="2769"/>
                            <a:ext cx="223" cy="1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68" name="Oval 99"/>
              <p:cNvSpPr>
                <a:spLocks noChangeArrowheads="1"/>
              </p:cNvSpPr>
              <p:nvPr/>
            </p:nvSpPr>
            <p:spPr bwMode="auto">
              <a:xfrm rot="-5400000">
                <a:off x="3992" y="2808"/>
                <a:ext cx="26" cy="3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9" name="Oval 100"/>
              <p:cNvSpPr>
                <a:spLocks noChangeArrowheads="1"/>
              </p:cNvSpPr>
              <p:nvPr/>
            </p:nvSpPr>
            <p:spPr bwMode="auto">
              <a:xfrm rot="-5400000">
                <a:off x="4037" y="2808"/>
                <a:ext cx="26" cy="3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0" name="Oval 101"/>
              <p:cNvSpPr>
                <a:spLocks noChangeArrowheads="1"/>
              </p:cNvSpPr>
              <p:nvPr/>
            </p:nvSpPr>
            <p:spPr bwMode="auto">
              <a:xfrm rot="-5400000">
                <a:off x="4077" y="2810"/>
                <a:ext cx="27" cy="3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1" name="Line 102"/>
              <p:cNvSpPr>
                <a:spLocks noChangeShapeType="1"/>
              </p:cNvSpPr>
              <p:nvPr/>
            </p:nvSpPr>
            <p:spPr bwMode="auto">
              <a:xfrm rot="-5400000">
                <a:off x="4217" y="2764"/>
                <a:ext cx="25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2" name="Line 103"/>
              <p:cNvSpPr>
                <a:spLocks noChangeShapeType="1"/>
              </p:cNvSpPr>
              <p:nvPr/>
            </p:nvSpPr>
            <p:spPr bwMode="auto">
              <a:xfrm rot="5400000" flipH="1">
                <a:off x="3882" y="2760"/>
                <a:ext cx="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3" name="Line 104"/>
              <p:cNvSpPr>
                <a:spLocks noChangeShapeType="1"/>
              </p:cNvSpPr>
              <p:nvPr/>
            </p:nvSpPr>
            <p:spPr bwMode="auto">
              <a:xfrm rot="16200000" flipV="1">
                <a:off x="4064" y="2582"/>
                <a:ext cx="0" cy="33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4" name="Line 105"/>
              <p:cNvSpPr>
                <a:spLocks noChangeShapeType="1"/>
              </p:cNvSpPr>
              <p:nvPr/>
            </p:nvSpPr>
            <p:spPr bwMode="auto">
              <a:xfrm flipV="1">
                <a:off x="3885" y="2594"/>
                <a:ext cx="50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5" name="Line 106"/>
              <p:cNvSpPr>
                <a:spLocks noChangeShapeType="1"/>
              </p:cNvSpPr>
              <p:nvPr/>
            </p:nvSpPr>
            <p:spPr bwMode="auto">
              <a:xfrm>
                <a:off x="4207" y="2613"/>
                <a:ext cx="162" cy="16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6" name="Line 107"/>
              <p:cNvSpPr>
                <a:spLocks noChangeShapeType="1"/>
              </p:cNvSpPr>
              <p:nvPr/>
            </p:nvSpPr>
            <p:spPr bwMode="auto">
              <a:xfrm flipH="1">
                <a:off x="4633" y="2612"/>
                <a:ext cx="149" cy="1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77" name="Group 111"/>
              <p:cNvGrpSpPr>
                <a:grpSpLocks/>
              </p:cNvGrpSpPr>
              <p:nvPr/>
            </p:nvGrpSpPr>
            <p:grpSpPr bwMode="auto">
              <a:xfrm>
                <a:off x="4198" y="2957"/>
                <a:ext cx="218" cy="178"/>
                <a:chOff x="2870" y="1518"/>
                <a:chExt cx="292" cy="320"/>
              </a:xfrm>
            </p:grpSpPr>
            <p:graphicFrame>
              <p:nvGraphicFramePr>
                <p:cNvPr id="1228" name="Object 112"/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8" imgW="819000" imgH="847800" progId="">
                        <p:embed/>
                      </p:oleObj>
                    </mc:Choice>
                    <mc:Fallback>
                      <p:oleObj name="Clip" r:id="rId8" imgW="819000" imgH="847800" progId="">
                        <p:embed/>
                        <p:pic>
                          <p:nvPicPr>
                            <p:cNvPr id="1228" name="Object 1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29" name="Object 113"/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10" imgW="1266840" imgH="1200240" progId="">
                        <p:embed/>
                      </p:oleObj>
                    </mc:Choice>
                    <mc:Fallback>
                      <p:oleObj name="Clip" r:id="rId10" imgW="1266840" imgH="1200240" progId="">
                        <p:embed/>
                        <p:pic>
                          <p:nvPicPr>
                            <p:cNvPr id="1229" name="Object 1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078" name="Group 114"/>
              <p:cNvGrpSpPr>
                <a:grpSpLocks/>
              </p:cNvGrpSpPr>
              <p:nvPr/>
            </p:nvGrpSpPr>
            <p:grpSpPr bwMode="auto">
              <a:xfrm>
                <a:off x="4614" y="2971"/>
                <a:ext cx="218" cy="177"/>
                <a:chOff x="2870" y="1518"/>
                <a:chExt cx="292" cy="320"/>
              </a:xfrm>
            </p:grpSpPr>
            <p:graphicFrame>
              <p:nvGraphicFramePr>
                <p:cNvPr id="1226" name="Object 115"/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8" imgW="819000" imgH="847800" progId="">
                        <p:embed/>
                      </p:oleObj>
                    </mc:Choice>
                    <mc:Fallback>
                      <p:oleObj name="Clip" r:id="rId8" imgW="819000" imgH="847800" progId="">
                        <p:embed/>
                        <p:pic>
                          <p:nvPicPr>
                            <p:cNvPr id="1226" name="Object 1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27" name="Object 116"/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10" imgW="1266840" imgH="1200240" progId="">
                        <p:embed/>
                      </p:oleObj>
                    </mc:Choice>
                    <mc:Fallback>
                      <p:oleObj name="Clip" r:id="rId10" imgW="1266840" imgH="1200240" progId="">
                        <p:embed/>
                        <p:pic>
                          <p:nvPicPr>
                            <p:cNvPr id="1227" name="Object 1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079" name="Group 117"/>
              <p:cNvGrpSpPr>
                <a:grpSpLocks/>
              </p:cNvGrpSpPr>
              <p:nvPr/>
            </p:nvGrpSpPr>
            <p:grpSpPr bwMode="auto">
              <a:xfrm>
                <a:off x="4393" y="2852"/>
                <a:ext cx="202" cy="157"/>
                <a:chOff x="4733" y="2082"/>
                <a:chExt cx="272" cy="282"/>
              </a:xfrm>
            </p:grpSpPr>
            <p:graphicFrame>
              <p:nvGraphicFramePr>
                <p:cNvPr id="1224" name="Object 118"/>
                <p:cNvGraphicFramePr>
                  <a:graphicFrameLocks noChangeAspect="1"/>
                </p:cNvGraphicFramePr>
                <p:nvPr/>
              </p:nvGraphicFramePr>
              <p:xfrm>
                <a:off x="4733" y="2082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8" imgW="819000" imgH="847800" progId="">
                        <p:embed/>
                      </p:oleObj>
                    </mc:Choice>
                    <mc:Fallback>
                      <p:oleObj name="Clip" r:id="rId8" imgW="819000" imgH="847800" progId="">
                        <p:embed/>
                        <p:pic>
                          <p:nvPicPr>
                            <p:cNvPr id="1224" name="Object 1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33" y="2082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25" name="Rectangle 119"/>
                <p:cNvSpPr>
                  <a:spLocks noChangeArrowheads="1"/>
                </p:cNvSpPr>
                <p:nvPr/>
              </p:nvSpPr>
              <p:spPr bwMode="auto">
                <a:xfrm>
                  <a:off x="4812" y="2181"/>
                  <a:ext cx="192" cy="183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80" name="Line 120"/>
              <p:cNvSpPr>
                <a:spLocks noChangeShapeType="1"/>
              </p:cNvSpPr>
              <p:nvPr/>
            </p:nvSpPr>
            <p:spPr bwMode="auto">
              <a:xfrm>
                <a:off x="4557" y="2812"/>
                <a:ext cx="0" cy="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81" name="Group 121"/>
              <p:cNvGrpSpPr>
                <a:grpSpLocks/>
              </p:cNvGrpSpPr>
              <p:nvPr/>
            </p:nvGrpSpPr>
            <p:grpSpPr bwMode="auto">
              <a:xfrm>
                <a:off x="4942" y="2579"/>
                <a:ext cx="112" cy="173"/>
                <a:chOff x="4180" y="783"/>
                <a:chExt cx="150" cy="307"/>
              </a:xfrm>
            </p:grpSpPr>
            <p:sp>
              <p:nvSpPr>
                <p:cNvPr id="1216" name="AutoShape 122"/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7" name="Rectangle 123"/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8" name="Rectangle 124"/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9" name="AutoShape 125"/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0" name="Line 126"/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1" name="Line 127"/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2" name="Rectangle 128"/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3" name="Rectangle 129"/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82" name="Group 130"/>
              <p:cNvGrpSpPr>
                <a:grpSpLocks/>
              </p:cNvGrpSpPr>
              <p:nvPr/>
            </p:nvGrpSpPr>
            <p:grpSpPr bwMode="auto">
              <a:xfrm>
                <a:off x="4935" y="2764"/>
                <a:ext cx="112" cy="173"/>
                <a:chOff x="4180" y="783"/>
                <a:chExt cx="150" cy="307"/>
              </a:xfrm>
            </p:grpSpPr>
            <p:sp>
              <p:nvSpPr>
                <p:cNvPr id="1208" name="AutoShape 131"/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9" name="Rectangle 132"/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0" name="Rectangle 133"/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1" name="AutoShape 134"/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2" name="Line 135"/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3" name="Line 136"/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4" name="Rectangle 137"/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5" name="Rectangle 138"/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83" name="Line 139"/>
              <p:cNvSpPr>
                <a:spLocks noChangeShapeType="1"/>
              </p:cNvSpPr>
              <p:nvPr/>
            </p:nvSpPr>
            <p:spPr bwMode="auto">
              <a:xfrm rot="5400000" flipH="1">
                <a:off x="4771" y="2728"/>
                <a:ext cx="2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4" name="Line 140"/>
              <p:cNvSpPr>
                <a:spLocks noChangeShapeType="1"/>
              </p:cNvSpPr>
              <p:nvPr/>
            </p:nvSpPr>
            <p:spPr bwMode="auto">
              <a:xfrm rot="-5400000">
                <a:off x="4925" y="2826"/>
                <a:ext cx="0" cy="5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5" name="Line 141"/>
              <p:cNvSpPr>
                <a:spLocks noChangeShapeType="1"/>
              </p:cNvSpPr>
              <p:nvPr/>
            </p:nvSpPr>
            <p:spPr bwMode="auto">
              <a:xfrm rot="-5400000">
                <a:off x="4920" y="2632"/>
                <a:ext cx="0" cy="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6" name="Line 142"/>
              <p:cNvSpPr>
                <a:spLocks noChangeShapeType="1"/>
              </p:cNvSpPr>
              <p:nvPr/>
            </p:nvSpPr>
            <p:spPr bwMode="auto">
              <a:xfrm flipV="1">
                <a:off x="4212" y="1864"/>
                <a:ext cx="246" cy="8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7" name="Line 143"/>
              <p:cNvSpPr>
                <a:spLocks noChangeShapeType="1"/>
              </p:cNvSpPr>
              <p:nvPr/>
            </p:nvSpPr>
            <p:spPr bwMode="auto">
              <a:xfrm>
                <a:off x="4713" y="1857"/>
                <a:ext cx="260" cy="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8" name="Line 144"/>
              <p:cNvSpPr>
                <a:spLocks noChangeShapeType="1"/>
              </p:cNvSpPr>
              <p:nvPr/>
            </p:nvSpPr>
            <p:spPr bwMode="auto">
              <a:xfrm flipH="1">
                <a:off x="4990" y="1997"/>
                <a:ext cx="13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9" name="Line 145"/>
              <p:cNvSpPr>
                <a:spLocks noChangeShapeType="1"/>
              </p:cNvSpPr>
              <p:nvPr/>
            </p:nvSpPr>
            <p:spPr bwMode="auto">
              <a:xfrm>
                <a:off x="4579" y="1904"/>
                <a:ext cx="0" cy="1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0" name="Line 146"/>
              <p:cNvSpPr>
                <a:spLocks noChangeShapeType="1"/>
              </p:cNvSpPr>
              <p:nvPr/>
            </p:nvSpPr>
            <p:spPr bwMode="auto">
              <a:xfrm>
                <a:off x="4593" y="2174"/>
                <a:ext cx="286" cy="1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1" name="Line 147"/>
              <p:cNvSpPr>
                <a:spLocks noChangeShapeType="1"/>
              </p:cNvSpPr>
              <p:nvPr/>
            </p:nvSpPr>
            <p:spPr bwMode="auto">
              <a:xfrm flipH="1">
                <a:off x="4838" y="2367"/>
                <a:ext cx="143" cy="1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2" name="Line 148"/>
              <p:cNvSpPr>
                <a:spLocks noChangeShapeType="1"/>
              </p:cNvSpPr>
              <p:nvPr/>
            </p:nvSpPr>
            <p:spPr bwMode="auto">
              <a:xfrm flipH="1">
                <a:off x="4718" y="1984"/>
                <a:ext cx="299" cy="1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3" name="Line 149"/>
              <p:cNvSpPr>
                <a:spLocks noChangeShapeType="1"/>
              </p:cNvSpPr>
              <p:nvPr/>
            </p:nvSpPr>
            <p:spPr bwMode="auto">
              <a:xfrm flipH="1">
                <a:off x="4722" y="1750"/>
                <a:ext cx="188" cy="1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4" name="Line 150"/>
              <p:cNvSpPr>
                <a:spLocks noChangeShapeType="1"/>
              </p:cNvSpPr>
              <p:nvPr/>
            </p:nvSpPr>
            <p:spPr bwMode="auto">
              <a:xfrm flipH="1">
                <a:off x="5107" y="1824"/>
                <a:ext cx="107" cy="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95" name="Group 181"/>
              <p:cNvGrpSpPr>
                <a:grpSpLocks/>
              </p:cNvGrpSpPr>
              <p:nvPr/>
            </p:nvGrpSpPr>
            <p:grpSpPr bwMode="auto">
              <a:xfrm>
                <a:off x="3935" y="1836"/>
                <a:ext cx="269" cy="195"/>
                <a:chOff x="3600" y="97"/>
                <a:chExt cx="360" cy="359"/>
              </a:xfrm>
            </p:grpSpPr>
            <p:sp>
              <p:nvSpPr>
                <p:cNvPr id="1195" name="Oval 182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6" name="Line 183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7" name="Line 184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8" name="Rectangle 185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9" name="Oval 186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00" name="Group 187"/>
                <p:cNvGrpSpPr>
                  <a:grpSpLocks/>
                </p:cNvGrpSpPr>
                <p:nvPr/>
              </p:nvGrpSpPr>
              <p:grpSpPr bwMode="auto">
                <a:xfrm>
                  <a:off x="3666" y="97"/>
                  <a:ext cx="176" cy="49"/>
                  <a:chOff x="2848" y="848"/>
                  <a:chExt cx="140" cy="98"/>
                </a:xfrm>
              </p:grpSpPr>
              <p:sp>
                <p:nvSpPr>
                  <p:cNvPr id="1205" name="Line 1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06" name="Line 189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07" name="Line 190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01" name="Group 191"/>
                <p:cNvGrpSpPr>
                  <a:grpSpLocks/>
                </p:cNvGrpSpPr>
                <p:nvPr/>
              </p:nvGrpSpPr>
              <p:grpSpPr bwMode="auto">
                <a:xfrm flipV="1">
                  <a:off x="3666" y="407"/>
                  <a:ext cx="176" cy="49"/>
                  <a:chOff x="2848" y="848"/>
                  <a:chExt cx="140" cy="98"/>
                </a:xfrm>
              </p:grpSpPr>
              <p:sp>
                <p:nvSpPr>
                  <p:cNvPr id="1202" name="Line 19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03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04" name="Line 194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96" name="Group 195"/>
              <p:cNvGrpSpPr>
                <a:grpSpLocks/>
              </p:cNvGrpSpPr>
              <p:nvPr/>
            </p:nvGrpSpPr>
            <p:grpSpPr bwMode="auto">
              <a:xfrm>
                <a:off x="4445" y="1741"/>
                <a:ext cx="268" cy="195"/>
                <a:chOff x="3600" y="97"/>
                <a:chExt cx="360" cy="359"/>
              </a:xfrm>
            </p:grpSpPr>
            <p:sp>
              <p:nvSpPr>
                <p:cNvPr id="1182" name="Oval 196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3" name="Line 197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4" name="Line 198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5" name="Rectangle 199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6" name="Oval 200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87" name="Group 201"/>
                <p:cNvGrpSpPr>
                  <a:grpSpLocks/>
                </p:cNvGrpSpPr>
                <p:nvPr/>
              </p:nvGrpSpPr>
              <p:grpSpPr bwMode="auto">
                <a:xfrm>
                  <a:off x="3666" y="97"/>
                  <a:ext cx="176" cy="49"/>
                  <a:chOff x="2848" y="848"/>
                  <a:chExt cx="140" cy="98"/>
                </a:xfrm>
              </p:grpSpPr>
              <p:sp>
                <p:nvSpPr>
                  <p:cNvPr id="1192" name="Line 20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93" name="Line 203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94" name="Line 204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88" name="Group 205"/>
                <p:cNvGrpSpPr>
                  <a:grpSpLocks/>
                </p:cNvGrpSpPr>
                <p:nvPr/>
              </p:nvGrpSpPr>
              <p:grpSpPr bwMode="auto">
                <a:xfrm flipV="1">
                  <a:off x="3666" y="407"/>
                  <a:ext cx="176" cy="49"/>
                  <a:chOff x="2848" y="848"/>
                  <a:chExt cx="140" cy="98"/>
                </a:xfrm>
              </p:grpSpPr>
              <p:sp>
                <p:nvSpPr>
                  <p:cNvPr id="1189" name="Line 20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90" name="Line 207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91" name="Line 208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97" name="Group 209"/>
              <p:cNvGrpSpPr>
                <a:grpSpLocks/>
              </p:cNvGrpSpPr>
              <p:nvPr/>
            </p:nvGrpSpPr>
            <p:grpSpPr bwMode="auto">
              <a:xfrm>
                <a:off x="4454" y="2014"/>
                <a:ext cx="268" cy="195"/>
                <a:chOff x="3600" y="97"/>
                <a:chExt cx="360" cy="359"/>
              </a:xfrm>
            </p:grpSpPr>
            <p:sp>
              <p:nvSpPr>
                <p:cNvPr id="1169" name="Oval 210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70" name="Line 211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71" name="Line 212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72" name="Rectangle 213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3" name="Oval 214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74" name="Group 215"/>
                <p:cNvGrpSpPr>
                  <a:grpSpLocks/>
                </p:cNvGrpSpPr>
                <p:nvPr/>
              </p:nvGrpSpPr>
              <p:grpSpPr bwMode="auto">
                <a:xfrm>
                  <a:off x="3666" y="97"/>
                  <a:ext cx="176" cy="49"/>
                  <a:chOff x="2848" y="848"/>
                  <a:chExt cx="140" cy="98"/>
                </a:xfrm>
              </p:grpSpPr>
              <p:sp>
                <p:nvSpPr>
                  <p:cNvPr id="1179" name="Line 2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Line 217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Line 218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75" name="Group 219"/>
                <p:cNvGrpSpPr>
                  <a:grpSpLocks/>
                </p:cNvGrpSpPr>
                <p:nvPr/>
              </p:nvGrpSpPr>
              <p:grpSpPr bwMode="auto">
                <a:xfrm flipV="1">
                  <a:off x="3666" y="407"/>
                  <a:ext cx="176" cy="49"/>
                  <a:chOff x="2848" y="848"/>
                  <a:chExt cx="140" cy="98"/>
                </a:xfrm>
              </p:grpSpPr>
              <p:sp>
                <p:nvSpPr>
                  <p:cNvPr id="1176" name="Line 2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Line 221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Line 222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98" name="Group 223"/>
              <p:cNvGrpSpPr>
                <a:grpSpLocks/>
              </p:cNvGrpSpPr>
              <p:nvPr/>
            </p:nvGrpSpPr>
            <p:grpSpPr bwMode="auto">
              <a:xfrm>
                <a:off x="4973" y="1827"/>
                <a:ext cx="268" cy="195"/>
                <a:chOff x="3600" y="97"/>
                <a:chExt cx="360" cy="359"/>
              </a:xfrm>
            </p:grpSpPr>
            <p:sp>
              <p:nvSpPr>
                <p:cNvPr id="1156" name="Oval 224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7" name="Line 225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8" name="Line 226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9" name="Rectangle 227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0" name="Oval 228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61" name="Group 229"/>
                <p:cNvGrpSpPr>
                  <a:grpSpLocks/>
                </p:cNvGrpSpPr>
                <p:nvPr/>
              </p:nvGrpSpPr>
              <p:grpSpPr bwMode="auto">
                <a:xfrm>
                  <a:off x="3666" y="97"/>
                  <a:ext cx="176" cy="49"/>
                  <a:chOff x="2848" y="848"/>
                  <a:chExt cx="140" cy="98"/>
                </a:xfrm>
              </p:grpSpPr>
              <p:sp>
                <p:nvSpPr>
                  <p:cNvPr id="1166" name="Line 2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Line 231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Line 232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62" name="Group 233"/>
                <p:cNvGrpSpPr>
                  <a:grpSpLocks/>
                </p:cNvGrpSpPr>
                <p:nvPr/>
              </p:nvGrpSpPr>
              <p:grpSpPr bwMode="auto">
                <a:xfrm flipV="1">
                  <a:off x="3666" y="407"/>
                  <a:ext cx="176" cy="49"/>
                  <a:chOff x="2848" y="848"/>
                  <a:chExt cx="140" cy="98"/>
                </a:xfrm>
              </p:grpSpPr>
              <p:sp>
                <p:nvSpPr>
                  <p:cNvPr id="1163" name="Line 2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Line 235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Line 236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99" name="Group 237"/>
              <p:cNvGrpSpPr>
                <a:grpSpLocks/>
              </p:cNvGrpSpPr>
              <p:nvPr/>
            </p:nvGrpSpPr>
            <p:grpSpPr bwMode="auto">
              <a:xfrm>
                <a:off x="4870" y="2201"/>
                <a:ext cx="268" cy="195"/>
                <a:chOff x="3600" y="97"/>
                <a:chExt cx="360" cy="359"/>
              </a:xfrm>
            </p:grpSpPr>
            <p:sp>
              <p:nvSpPr>
                <p:cNvPr id="1143" name="Oval 238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44" name="Line 239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45" name="Line 240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46" name="Rectangle 241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7" name="Oval 242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48" name="Group 243"/>
                <p:cNvGrpSpPr>
                  <a:grpSpLocks/>
                </p:cNvGrpSpPr>
                <p:nvPr/>
              </p:nvGrpSpPr>
              <p:grpSpPr bwMode="auto">
                <a:xfrm>
                  <a:off x="3666" y="97"/>
                  <a:ext cx="176" cy="49"/>
                  <a:chOff x="2848" y="848"/>
                  <a:chExt cx="140" cy="98"/>
                </a:xfrm>
              </p:grpSpPr>
              <p:sp>
                <p:nvSpPr>
                  <p:cNvPr id="1153" name="Line 2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Line 245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Line 246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49" name="Group 247"/>
                <p:cNvGrpSpPr>
                  <a:grpSpLocks/>
                </p:cNvGrpSpPr>
                <p:nvPr/>
              </p:nvGrpSpPr>
              <p:grpSpPr bwMode="auto">
                <a:xfrm flipV="1">
                  <a:off x="3666" y="407"/>
                  <a:ext cx="176" cy="49"/>
                  <a:chOff x="2848" y="848"/>
                  <a:chExt cx="140" cy="98"/>
                </a:xfrm>
              </p:grpSpPr>
              <p:sp>
                <p:nvSpPr>
                  <p:cNvPr id="1150" name="Line 2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Line 249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Line 250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100" name="Group 251"/>
              <p:cNvGrpSpPr>
                <a:grpSpLocks/>
              </p:cNvGrpSpPr>
              <p:nvPr/>
            </p:nvGrpSpPr>
            <p:grpSpPr bwMode="auto">
              <a:xfrm>
                <a:off x="4691" y="2444"/>
                <a:ext cx="268" cy="195"/>
                <a:chOff x="3600" y="97"/>
                <a:chExt cx="360" cy="359"/>
              </a:xfrm>
            </p:grpSpPr>
            <p:sp>
              <p:nvSpPr>
                <p:cNvPr id="1130" name="Oval 252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" name="Line 253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2" name="Line 254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3" name="Rectangle 255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4" name="Oval 256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35" name="Group 257"/>
                <p:cNvGrpSpPr>
                  <a:grpSpLocks/>
                </p:cNvGrpSpPr>
                <p:nvPr/>
              </p:nvGrpSpPr>
              <p:grpSpPr bwMode="auto">
                <a:xfrm>
                  <a:off x="3666" y="97"/>
                  <a:ext cx="176" cy="49"/>
                  <a:chOff x="2848" y="848"/>
                  <a:chExt cx="140" cy="98"/>
                </a:xfrm>
              </p:grpSpPr>
              <p:sp>
                <p:nvSpPr>
                  <p:cNvPr id="1140" name="Line 2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Line 259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Line 260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36" name="Group 261"/>
                <p:cNvGrpSpPr>
                  <a:grpSpLocks/>
                </p:cNvGrpSpPr>
                <p:nvPr/>
              </p:nvGrpSpPr>
              <p:grpSpPr bwMode="auto">
                <a:xfrm flipV="1">
                  <a:off x="3666" y="407"/>
                  <a:ext cx="176" cy="49"/>
                  <a:chOff x="2848" y="848"/>
                  <a:chExt cx="140" cy="98"/>
                </a:xfrm>
              </p:grpSpPr>
              <p:sp>
                <p:nvSpPr>
                  <p:cNvPr id="1137" name="Line 26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Line 263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Line 264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101" name="Group 265"/>
              <p:cNvGrpSpPr>
                <a:grpSpLocks/>
              </p:cNvGrpSpPr>
              <p:nvPr/>
            </p:nvGrpSpPr>
            <p:grpSpPr bwMode="auto">
              <a:xfrm>
                <a:off x="4364" y="2646"/>
                <a:ext cx="269" cy="195"/>
                <a:chOff x="3600" y="97"/>
                <a:chExt cx="360" cy="359"/>
              </a:xfrm>
            </p:grpSpPr>
            <p:sp>
              <p:nvSpPr>
                <p:cNvPr id="1117" name="Oval 266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18" name="Line 267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19" name="Line 268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20" name="Rectangle 269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1" name="Oval 270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22" name="Group 271"/>
                <p:cNvGrpSpPr>
                  <a:grpSpLocks/>
                </p:cNvGrpSpPr>
                <p:nvPr/>
              </p:nvGrpSpPr>
              <p:grpSpPr bwMode="auto">
                <a:xfrm>
                  <a:off x="3666" y="97"/>
                  <a:ext cx="176" cy="49"/>
                  <a:chOff x="2848" y="848"/>
                  <a:chExt cx="140" cy="98"/>
                </a:xfrm>
              </p:grpSpPr>
              <p:sp>
                <p:nvSpPr>
                  <p:cNvPr id="1127" name="Line 27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8" name="Line 273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Line 274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23" name="Group 275"/>
                <p:cNvGrpSpPr>
                  <a:grpSpLocks/>
                </p:cNvGrpSpPr>
                <p:nvPr/>
              </p:nvGrpSpPr>
              <p:grpSpPr bwMode="auto">
                <a:xfrm flipV="1">
                  <a:off x="3666" y="407"/>
                  <a:ext cx="176" cy="49"/>
                  <a:chOff x="2848" y="848"/>
                  <a:chExt cx="140" cy="98"/>
                </a:xfrm>
              </p:grpSpPr>
              <p:sp>
                <p:nvSpPr>
                  <p:cNvPr id="1124" name="Line 27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Line 278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102" name="Line 298"/>
              <p:cNvSpPr>
                <a:spLocks noChangeShapeType="1"/>
              </p:cNvSpPr>
              <p:nvPr/>
            </p:nvSpPr>
            <p:spPr bwMode="auto">
              <a:xfrm>
                <a:off x="4025" y="2647"/>
                <a:ext cx="7" cy="1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03" name="Group 279"/>
              <p:cNvGrpSpPr>
                <a:grpSpLocks/>
              </p:cNvGrpSpPr>
              <p:nvPr/>
            </p:nvGrpSpPr>
            <p:grpSpPr bwMode="auto">
              <a:xfrm>
                <a:off x="3935" y="2491"/>
                <a:ext cx="269" cy="195"/>
                <a:chOff x="3600" y="97"/>
                <a:chExt cx="360" cy="359"/>
              </a:xfrm>
            </p:grpSpPr>
            <p:sp>
              <p:nvSpPr>
                <p:cNvPr id="1104" name="Oval 280"/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5" name="Line 281"/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6" name="Line 282"/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7" name="Rectangle 283"/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8" name="Oval 284"/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09" name="Group 285"/>
                <p:cNvGrpSpPr>
                  <a:grpSpLocks/>
                </p:cNvGrpSpPr>
                <p:nvPr/>
              </p:nvGrpSpPr>
              <p:grpSpPr bwMode="auto">
                <a:xfrm>
                  <a:off x="3666" y="97"/>
                  <a:ext cx="176" cy="49"/>
                  <a:chOff x="2848" y="848"/>
                  <a:chExt cx="140" cy="98"/>
                </a:xfrm>
              </p:grpSpPr>
              <p:sp>
                <p:nvSpPr>
                  <p:cNvPr id="1114" name="Line 28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Line 287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10" name="Group 289"/>
                <p:cNvGrpSpPr>
                  <a:grpSpLocks/>
                </p:cNvGrpSpPr>
                <p:nvPr/>
              </p:nvGrpSpPr>
              <p:grpSpPr bwMode="auto">
                <a:xfrm flipV="1">
                  <a:off x="3666" y="407"/>
                  <a:ext cx="176" cy="49"/>
                  <a:chOff x="2848" y="848"/>
                  <a:chExt cx="140" cy="98"/>
                </a:xfrm>
              </p:grpSpPr>
              <p:sp>
                <p:nvSpPr>
                  <p:cNvPr id="1111" name="Line 2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Line 291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Line 292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236" name="TextBox 235"/>
          <p:cNvSpPr txBox="1"/>
          <p:nvPr/>
        </p:nvSpPr>
        <p:spPr>
          <a:xfrm>
            <a:off x="4975230" y="6309320"/>
            <a:ext cx="4168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0" i="1">
                <a:solidFill>
                  <a:schemeClr val="bg1">
                    <a:lumMod val="50000"/>
                  </a:schemeClr>
                </a:solidFill>
                <a:latin typeface="+mn-lt"/>
              </a:rPr>
              <a:t>Adapted from “Computer Networking – a Top-Down Approach”</a:t>
            </a:r>
          </a:p>
          <a:p>
            <a:pPr algn="r"/>
            <a:r>
              <a:rPr lang="en-US" sz="1200" b="0" i="1">
                <a:solidFill>
                  <a:schemeClr val="bg1">
                    <a:lumMod val="50000"/>
                  </a:schemeClr>
                </a:solidFill>
                <a:latin typeface="+mn-lt"/>
              </a:rPr>
              <a:t>© 1996-2012 by J.F Kurose and K.W. Ross, All Rights Reserved</a:t>
            </a:r>
          </a:p>
          <a:p>
            <a:pPr algn="r"/>
            <a:endParaRPr lang="en-US" sz="1200" b="0" i="1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5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72" y="357166"/>
            <a:ext cx="7772400" cy="1143000"/>
          </a:xfrm>
        </p:spPr>
        <p:txBody>
          <a:bodyPr/>
          <a:lstStyle/>
          <a:p>
            <a:r>
              <a:rPr lang="en-US" sz="4000">
                <a:ea typeface="ＭＳ Ｐゴシック" pitchFamily="34" charset="-128"/>
              </a:rPr>
              <a:t>Socket Programming </a:t>
            </a:r>
            <a:endParaRPr lang="en-US">
              <a:ea typeface="ＭＳ Ｐゴシック" pitchFamily="34" charset="-128"/>
            </a:endParaRPr>
          </a:p>
        </p:txBody>
      </p:sp>
      <p:sp>
        <p:nvSpPr>
          <p:cNvPr id="243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72" y="1714488"/>
            <a:ext cx="8021638" cy="1533525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ea typeface="ＭＳ Ｐゴシック" pitchFamily="34" charset="-128"/>
              </a:rPr>
              <a:t>goal:</a:t>
            </a:r>
            <a:r>
              <a:rPr lang="en-US">
                <a:solidFill>
                  <a:srgbClr val="000000"/>
                </a:solidFill>
                <a:ea typeface="ＭＳ Ｐゴシック" pitchFamily="34" charset="-128"/>
              </a:rPr>
              <a:t> learn how to build client/server applications that communicate using sockets</a:t>
            </a:r>
            <a:endParaRPr lang="en-US" i="1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ea typeface="ＭＳ Ｐゴシック" pitchFamily="34" charset="-128"/>
              </a:rPr>
              <a:t>socket:</a:t>
            </a:r>
            <a:r>
              <a:rPr lang="en-US">
                <a:ea typeface="ＭＳ Ｐゴシック" pitchFamily="34" charset="-128"/>
              </a:rPr>
              <a:t> door between application process and end-end-transport protocol </a:t>
            </a:r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357158" y="3714752"/>
            <a:ext cx="8150157" cy="2536825"/>
            <a:chOff x="358775" y="3459163"/>
            <a:chExt cx="8150158" cy="2536825"/>
          </a:xfrm>
        </p:grpSpPr>
        <p:sp>
          <p:nvSpPr>
            <p:cNvPr id="243719" name="Freeform 44"/>
            <p:cNvSpPr>
              <a:spLocks/>
            </p:cNvSpPr>
            <p:nvPr/>
          </p:nvSpPr>
          <p:spPr bwMode="auto">
            <a:xfrm>
              <a:off x="6654800" y="3468688"/>
              <a:ext cx="736600" cy="1998662"/>
            </a:xfrm>
            <a:custGeom>
              <a:avLst/>
              <a:gdLst>
                <a:gd name="T0" fmla="*/ 2147483647 w 464"/>
                <a:gd name="T1" fmla="*/ 2147483647 h 1259"/>
                <a:gd name="T2" fmla="*/ 0 w 464"/>
                <a:gd name="T3" fmla="*/ 0 h 1259"/>
                <a:gd name="T4" fmla="*/ 2147483647 w 464"/>
                <a:gd name="T5" fmla="*/ 2147483647 h 1259"/>
                <a:gd name="T6" fmla="*/ 2147483647 w 464"/>
                <a:gd name="T7" fmla="*/ 2147483647 h 1259"/>
                <a:gd name="T8" fmla="*/ 2147483647 w 464"/>
                <a:gd name="T9" fmla="*/ 2147483647 h 1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4"/>
                <a:gd name="T16" fmla="*/ 0 h 1259"/>
                <a:gd name="T17" fmla="*/ 464 w 464"/>
                <a:gd name="T18" fmla="*/ 1259 h 1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4" h="1259">
                  <a:moveTo>
                    <a:pt x="464" y="1060"/>
                  </a:moveTo>
                  <a:lnTo>
                    <a:pt x="0" y="0"/>
                  </a:lnTo>
                  <a:lnTo>
                    <a:pt x="6" y="1258"/>
                  </a:lnTo>
                  <a:lnTo>
                    <a:pt x="382" y="1259"/>
                  </a:lnTo>
                  <a:lnTo>
                    <a:pt x="464" y="106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20" name="Freeform 7"/>
            <p:cNvSpPr>
              <a:spLocks/>
            </p:cNvSpPr>
            <p:nvPr/>
          </p:nvSpPr>
          <p:spPr bwMode="auto">
            <a:xfrm>
              <a:off x="3340100" y="4765675"/>
              <a:ext cx="1808163" cy="1031875"/>
            </a:xfrm>
            <a:custGeom>
              <a:avLst/>
              <a:gdLst>
                <a:gd name="T0" fmla="*/ 2147483647 w 2135"/>
                <a:gd name="T1" fmla="*/ 2147483647 h 1662"/>
                <a:gd name="T2" fmla="*/ 2147483647 w 2135"/>
                <a:gd name="T3" fmla="*/ 2147483647 h 1662"/>
                <a:gd name="T4" fmla="*/ 2147483647 w 2135"/>
                <a:gd name="T5" fmla="*/ 2147483647 h 1662"/>
                <a:gd name="T6" fmla="*/ 2147483647 w 2135"/>
                <a:gd name="T7" fmla="*/ 2147483647 h 1662"/>
                <a:gd name="T8" fmla="*/ 2147483647 w 2135"/>
                <a:gd name="T9" fmla="*/ 2147483647 h 1662"/>
                <a:gd name="T10" fmla="*/ 2147483647 w 2135"/>
                <a:gd name="T11" fmla="*/ 2147483647 h 1662"/>
                <a:gd name="T12" fmla="*/ 2147483647 w 2135"/>
                <a:gd name="T13" fmla="*/ 2147483647 h 1662"/>
                <a:gd name="T14" fmla="*/ 2147483647 w 2135"/>
                <a:gd name="T15" fmla="*/ 2147483647 h 1662"/>
                <a:gd name="T16" fmla="*/ 2147483647 w 2135"/>
                <a:gd name="T17" fmla="*/ 2147483647 h 1662"/>
                <a:gd name="T18" fmla="*/ 2147483647 w 2135"/>
                <a:gd name="T19" fmla="*/ 2147483647 h 1662"/>
                <a:gd name="T20" fmla="*/ 2147483647 w 2135"/>
                <a:gd name="T21" fmla="*/ 2147483647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21" name="Text Box 51"/>
            <p:cNvSpPr txBox="1">
              <a:spLocks noChangeArrowheads="1"/>
            </p:cNvSpPr>
            <p:nvPr/>
          </p:nvSpPr>
          <p:spPr bwMode="auto">
            <a:xfrm>
              <a:off x="3778250" y="4897438"/>
              <a:ext cx="874713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+mn-lt"/>
                </a:rPr>
                <a:t>Internet</a:t>
              </a:r>
            </a:p>
          </p:txBody>
        </p:sp>
        <p:sp>
          <p:nvSpPr>
            <p:cNvPr id="243722" name="Line 52"/>
            <p:cNvSpPr>
              <a:spLocks noChangeShapeType="1"/>
            </p:cNvSpPr>
            <p:nvPr/>
          </p:nvSpPr>
          <p:spPr bwMode="auto">
            <a:xfrm>
              <a:off x="3098800" y="5308600"/>
              <a:ext cx="2211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23" name="Text Box 53"/>
            <p:cNvSpPr txBox="1">
              <a:spLocks noChangeArrowheads="1"/>
            </p:cNvSpPr>
            <p:nvPr/>
          </p:nvSpPr>
          <p:spPr bwMode="auto">
            <a:xfrm>
              <a:off x="7431138" y="4530733"/>
              <a:ext cx="1063625" cy="825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rgbClr val="CC0000"/>
                  </a:solidFill>
                  <a:latin typeface="+mn-lt"/>
                </a:rPr>
                <a:t>controlled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rgbClr val="CC0000"/>
                  </a:solidFill>
                  <a:latin typeface="+mn-lt"/>
                </a:rPr>
                <a:t>by OS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sz="1600">
                <a:solidFill>
                  <a:srgbClr val="CC0000"/>
                </a:solidFill>
                <a:latin typeface="+mn-lt"/>
              </a:endParaRPr>
            </a:p>
          </p:txBody>
        </p:sp>
        <p:sp>
          <p:nvSpPr>
            <p:cNvPr id="243724" name="Text Box 56"/>
            <p:cNvSpPr txBox="1">
              <a:spLocks noChangeArrowheads="1"/>
            </p:cNvSpPr>
            <p:nvPr/>
          </p:nvSpPr>
          <p:spPr bwMode="auto">
            <a:xfrm>
              <a:off x="7097713" y="3633788"/>
              <a:ext cx="1411220" cy="535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rgbClr val="CC0000"/>
                  </a:solidFill>
                  <a:latin typeface="+mn-lt"/>
                </a:rPr>
                <a:t>controlled by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rgbClr val="CC0000"/>
                  </a:solidFill>
                  <a:latin typeface="+mn-lt"/>
                </a:rPr>
                <a:t>app developer</a:t>
              </a:r>
            </a:p>
          </p:txBody>
        </p:sp>
        <p:sp>
          <p:nvSpPr>
            <p:cNvPr id="243725" name="Freeform 50"/>
            <p:cNvSpPr>
              <a:spLocks/>
            </p:cNvSpPr>
            <p:nvPr/>
          </p:nvSpPr>
          <p:spPr bwMode="auto">
            <a:xfrm>
              <a:off x="914400" y="3532188"/>
              <a:ext cx="758825" cy="1997075"/>
            </a:xfrm>
            <a:custGeom>
              <a:avLst/>
              <a:gdLst>
                <a:gd name="T0" fmla="*/ 0 w 478"/>
                <a:gd name="T1" fmla="*/ 2147483647 h 1258"/>
                <a:gd name="T2" fmla="*/ 2147483647 w 478"/>
                <a:gd name="T3" fmla="*/ 0 h 1258"/>
                <a:gd name="T4" fmla="*/ 2147483647 w 478"/>
                <a:gd name="T5" fmla="*/ 2147483647 h 1258"/>
                <a:gd name="T6" fmla="*/ 2147483647 w 478"/>
                <a:gd name="T7" fmla="*/ 2147483647 h 1258"/>
                <a:gd name="T8" fmla="*/ 0 w 478"/>
                <a:gd name="T9" fmla="*/ 2147483647 h 1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8"/>
                <a:gd name="T16" fmla="*/ 0 h 1258"/>
                <a:gd name="T17" fmla="*/ 478 w 478"/>
                <a:gd name="T18" fmla="*/ 1258 h 1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8" h="1258">
                  <a:moveTo>
                    <a:pt x="0" y="1040"/>
                  </a:moveTo>
                  <a:lnTo>
                    <a:pt x="478" y="0"/>
                  </a:lnTo>
                  <a:lnTo>
                    <a:pt x="472" y="1258"/>
                  </a:lnTo>
                  <a:lnTo>
                    <a:pt x="41" y="1246"/>
                  </a:lnTo>
                  <a:lnTo>
                    <a:pt x="0" y="104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26" name="Rectangle 23"/>
            <p:cNvSpPr>
              <a:spLocks noChangeArrowheads="1"/>
            </p:cNvSpPr>
            <p:nvPr/>
          </p:nvSpPr>
          <p:spPr bwMode="auto">
            <a:xfrm>
              <a:off x="1717675" y="3487738"/>
              <a:ext cx="1296988" cy="1981200"/>
            </a:xfrm>
            <a:prstGeom prst="rect">
              <a:avLst/>
            </a:prstGeom>
            <a:solidFill>
              <a:srgbClr val="0000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43727" name="Rectangle 24"/>
            <p:cNvSpPr>
              <a:spLocks noChangeArrowheads="1"/>
            </p:cNvSpPr>
            <p:nvPr/>
          </p:nvSpPr>
          <p:spPr bwMode="auto">
            <a:xfrm>
              <a:off x="1679575" y="3541713"/>
              <a:ext cx="1273175" cy="197961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43728" name="Line 25"/>
            <p:cNvSpPr>
              <a:spLocks noChangeShapeType="1"/>
            </p:cNvSpPr>
            <p:nvPr/>
          </p:nvSpPr>
          <p:spPr bwMode="auto">
            <a:xfrm>
              <a:off x="1689100" y="4302125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29" name="Text Box 26"/>
            <p:cNvSpPr txBox="1">
              <a:spLocks noChangeArrowheads="1"/>
            </p:cNvSpPr>
            <p:nvPr/>
          </p:nvSpPr>
          <p:spPr bwMode="auto">
            <a:xfrm>
              <a:off x="1646238" y="4284663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969696"/>
                  </a:solidFill>
                  <a:latin typeface="+mn-lt"/>
                </a:rPr>
                <a:t>transport</a:t>
              </a:r>
            </a:p>
          </p:txBody>
        </p:sp>
        <p:sp>
          <p:nvSpPr>
            <p:cNvPr id="243730" name="Line 27"/>
            <p:cNvSpPr>
              <a:spLocks noChangeShapeType="1"/>
            </p:cNvSpPr>
            <p:nvPr/>
          </p:nvSpPr>
          <p:spPr bwMode="auto">
            <a:xfrm>
              <a:off x="1697038" y="4622800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31" name="Line 28"/>
            <p:cNvSpPr>
              <a:spLocks noChangeShapeType="1"/>
            </p:cNvSpPr>
            <p:nvPr/>
          </p:nvSpPr>
          <p:spPr bwMode="auto">
            <a:xfrm>
              <a:off x="1682750" y="4932363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32" name="Line 29"/>
            <p:cNvSpPr>
              <a:spLocks noChangeShapeType="1"/>
            </p:cNvSpPr>
            <p:nvPr/>
          </p:nvSpPr>
          <p:spPr bwMode="auto">
            <a:xfrm>
              <a:off x="1682750" y="5218113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33" name="Text Box 26"/>
            <p:cNvSpPr txBox="1">
              <a:spLocks noChangeArrowheads="1"/>
            </p:cNvSpPr>
            <p:nvPr/>
          </p:nvSpPr>
          <p:spPr bwMode="auto">
            <a:xfrm>
              <a:off x="1681163" y="3532188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+mn-lt"/>
                </a:rPr>
                <a:t>application</a:t>
              </a:r>
            </a:p>
          </p:txBody>
        </p:sp>
        <p:sp>
          <p:nvSpPr>
            <p:cNvPr id="243734" name="Text Box 26"/>
            <p:cNvSpPr txBox="1">
              <a:spLocks noChangeArrowheads="1"/>
            </p:cNvSpPr>
            <p:nvPr/>
          </p:nvSpPr>
          <p:spPr bwMode="auto">
            <a:xfrm>
              <a:off x="1636713" y="5189538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969696"/>
                  </a:solidFill>
                  <a:latin typeface="+mn-lt"/>
                </a:rPr>
                <a:t>physical</a:t>
              </a:r>
            </a:p>
          </p:txBody>
        </p:sp>
        <p:sp>
          <p:nvSpPr>
            <p:cNvPr id="243735" name="Text Box 26"/>
            <p:cNvSpPr txBox="1">
              <a:spLocks noChangeArrowheads="1"/>
            </p:cNvSpPr>
            <p:nvPr/>
          </p:nvSpPr>
          <p:spPr bwMode="auto">
            <a:xfrm>
              <a:off x="1655763" y="4903788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969696"/>
                  </a:solidFill>
                  <a:latin typeface="+mn-lt"/>
                </a:rPr>
                <a:t>link</a:t>
              </a:r>
            </a:p>
          </p:txBody>
        </p:sp>
        <p:sp>
          <p:nvSpPr>
            <p:cNvPr id="243736" name="Text Box 26"/>
            <p:cNvSpPr txBox="1">
              <a:spLocks noChangeArrowheads="1"/>
            </p:cNvSpPr>
            <p:nvPr/>
          </p:nvSpPr>
          <p:spPr bwMode="auto">
            <a:xfrm>
              <a:off x="1646238" y="4608513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969696"/>
                  </a:solidFill>
                  <a:latin typeface="+mn-lt"/>
                </a:rPr>
                <a:t>network</a:t>
              </a:r>
            </a:p>
          </p:txBody>
        </p:sp>
        <p:sp>
          <p:nvSpPr>
            <p:cNvPr id="243737" name="Oval 62"/>
            <p:cNvSpPr>
              <a:spLocks noChangeArrowheads="1"/>
            </p:cNvSpPr>
            <p:nvPr/>
          </p:nvSpPr>
          <p:spPr bwMode="auto">
            <a:xfrm>
              <a:off x="1814513" y="3806825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+mn-lt"/>
                </a:rPr>
                <a:t>process</a:t>
              </a:r>
            </a:p>
          </p:txBody>
        </p:sp>
        <p:grpSp>
          <p:nvGrpSpPr>
            <p:cNvPr id="3" name="Group 63"/>
            <p:cNvGrpSpPr>
              <a:grpSpLocks/>
            </p:cNvGrpSpPr>
            <p:nvPr/>
          </p:nvGrpSpPr>
          <p:grpSpPr bwMode="auto">
            <a:xfrm>
              <a:off x="2062163" y="4167188"/>
              <a:ext cx="546100" cy="225425"/>
              <a:chOff x="1287" y="2524"/>
              <a:chExt cx="260" cy="100"/>
            </a:xfrm>
          </p:grpSpPr>
          <p:sp>
            <p:nvSpPr>
              <p:cNvPr id="243768" name="Rectangle 64"/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3333CC"/>
                  </a:buClr>
                </a:pPr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43769" name="Rectangle 65"/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3333CC"/>
                  </a:buClr>
                </a:pPr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43770" name="Rectangle 66"/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3333CC"/>
                  </a:buClr>
                </a:pPr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43771" name="Rectangle 67"/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3333CC"/>
                  </a:buClr>
                </a:pPr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sp>
          <p:nvSpPr>
            <p:cNvPr id="243739" name="Rectangle 23"/>
            <p:cNvSpPr>
              <a:spLocks noChangeArrowheads="1"/>
            </p:cNvSpPr>
            <p:nvPr/>
          </p:nvSpPr>
          <p:spPr bwMode="auto">
            <a:xfrm>
              <a:off x="5380038" y="3459163"/>
              <a:ext cx="1296987" cy="1981200"/>
            </a:xfrm>
            <a:prstGeom prst="rect">
              <a:avLst/>
            </a:prstGeom>
            <a:solidFill>
              <a:srgbClr val="0000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43740" name="Rectangle 24"/>
            <p:cNvSpPr>
              <a:spLocks noChangeArrowheads="1"/>
            </p:cNvSpPr>
            <p:nvPr/>
          </p:nvSpPr>
          <p:spPr bwMode="auto">
            <a:xfrm>
              <a:off x="5341938" y="3513138"/>
              <a:ext cx="1273175" cy="197961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43741" name="Line 25"/>
            <p:cNvSpPr>
              <a:spLocks noChangeShapeType="1"/>
            </p:cNvSpPr>
            <p:nvPr/>
          </p:nvSpPr>
          <p:spPr bwMode="auto">
            <a:xfrm>
              <a:off x="5351463" y="4273550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42" name="Text Box 26"/>
            <p:cNvSpPr txBox="1">
              <a:spLocks noChangeArrowheads="1"/>
            </p:cNvSpPr>
            <p:nvPr/>
          </p:nvSpPr>
          <p:spPr bwMode="auto">
            <a:xfrm>
              <a:off x="5308600" y="4256088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969696"/>
                  </a:solidFill>
                  <a:latin typeface="+mn-lt"/>
                </a:rPr>
                <a:t>transport</a:t>
              </a:r>
            </a:p>
          </p:txBody>
        </p:sp>
        <p:sp>
          <p:nvSpPr>
            <p:cNvPr id="243743" name="Line 27"/>
            <p:cNvSpPr>
              <a:spLocks noChangeShapeType="1"/>
            </p:cNvSpPr>
            <p:nvPr/>
          </p:nvSpPr>
          <p:spPr bwMode="auto">
            <a:xfrm>
              <a:off x="5359400" y="4594225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44" name="Line 28"/>
            <p:cNvSpPr>
              <a:spLocks noChangeShapeType="1"/>
            </p:cNvSpPr>
            <p:nvPr/>
          </p:nvSpPr>
          <p:spPr bwMode="auto">
            <a:xfrm>
              <a:off x="5345113" y="4903788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45" name="Line 29"/>
            <p:cNvSpPr>
              <a:spLocks noChangeShapeType="1"/>
            </p:cNvSpPr>
            <p:nvPr/>
          </p:nvSpPr>
          <p:spPr bwMode="auto">
            <a:xfrm>
              <a:off x="5345113" y="5189538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46" name="Text Box 26"/>
            <p:cNvSpPr txBox="1">
              <a:spLocks noChangeArrowheads="1"/>
            </p:cNvSpPr>
            <p:nvPr/>
          </p:nvSpPr>
          <p:spPr bwMode="auto">
            <a:xfrm>
              <a:off x="5343525" y="3503613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+mn-lt"/>
                </a:rPr>
                <a:t>application</a:t>
              </a:r>
            </a:p>
          </p:txBody>
        </p:sp>
        <p:sp>
          <p:nvSpPr>
            <p:cNvPr id="243747" name="Text Box 26"/>
            <p:cNvSpPr txBox="1">
              <a:spLocks noChangeArrowheads="1"/>
            </p:cNvSpPr>
            <p:nvPr/>
          </p:nvSpPr>
          <p:spPr bwMode="auto">
            <a:xfrm>
              <a:off x="5299075" y="5160963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969696"/>
                  </a:solidFill>
                  <a:latin typeface="+mn-lt"/>
                </a:rPr>
                <a:t>physical</a:t>
              </a:r>
            </a:p>
          </p:txBody>
        </p:sp>
        <p:sp>
          <p:nvSpPr>
            <p:cNvPr id="243748" name="Text Box 26"/>
            <p:cNvSpPr txBox="1">
              <a:spLocks noChangeArrowheads="1"/>
            </p:cNvSpPr>
            <p:nvPr/>
          </p:nvSpPr>
          <p:spPr bwMode="auto">
            <a:xfrm>
              <a:off x="5318125" y="4875213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969696"/>
                  </a:solidFill>
                  <a:latin typeface="+mn-lt"/>
                </a:rPr>
                <a:t>link</a:t>
              </a:r>
            </a:p>
          </p:txBody>
        </p:sp>
        <p:sp>
          <p:nvSpPr>
            <p:cNvPr id="243749" name="Text Box 26"/>
            <p:cNvSpPr txBox="1">
              <a:spLocks noChangeArrowheads="1"/>
            </p:cNvSpPr>
            <p:nvPr/>
          </p:nvSpPr>
          <p:spPr bwMode="auto">
            <a:xfrm>
              <a:off x="5308600" y="4579938"/>
              <a:ext cx="1317625" cy="32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400">
                  <a:solidFill>
                    <a:srgbClr val="969696"/>
                  </a:solidFill>
                  <a:latin typeface="+mn-lt"/>
                </a:rPr>
                <a:t>network</a:t>
              </a:r>
            </a:p>
          </p:txBody>
        </p:sp>
        <p:sp>
          <p:nvSpPr>
            <p:cNvPr id="243750" name="Oval 80"/>
            <p:cNvSpPr>
              <a:spLocks noChangeArrowheads="1"/>
            </p:cNvSpPr>
            <p:nvPr/>
          </p:nvSpPr>
          <p:spPr bwMode="auto">
            <a:xfrm>
              <a:off x="5476875" y="3778250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+mn-lt"/>
                </a:rPr>
                <a:t>process</a:t>
              </a:r>
            </a:p>
          </p:txBody>
        </p:sp>
        <p:grpSp>
          <p:nvGrpSpPr>
            <p:cNvPr id="4" name="Group 81"/>
            <p:cNvGrpSpPr>
              <a:grpSpLocks/>
            </p:cNvGrpSpPr>
            <p:nvPr/>
          </p:nvGrpSpPr>
          <p:grpSpPr bwMode="auto">
            <a:xfrm>
              <a:off x="5724525" y="4138613"/>
              <a:ext cx="546100" cy="225425"/>
              <a:chOff x="1287" y="2524"/>
              <a:chExt cx="260" cy="100"/>
            </a:xfrm>
          </p:grpSpPr>
          <p:sp>
            <p:nvSpPr>
              <p:cNvPr id="243764" name="Rectangle 82"/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3333CC"/>
                  </a:buClr>
                </a:pPr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43765" name="Rectangle 83"/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3333CC"/>
                  </a:buClr>
                </a:pPr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43766" name="Rectangle 84"/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3333CC"/>
                  </a:buClr>
                </a:pPr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43767" name="Rectangle 85"/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3333CC"/>
                  </a:buClr>
                </a:pPr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sp>
          <p:nvSpPr>
            <p:cNvPr id="243752" name="Line 87"/>
            <p:cNvSpPr>
              <a:spLocks noChangeShapeType="1"/>
            </p:cNvSpPr>
            <p:nvPr/>
          </p:nvSpPr>
          <p:spPr bwMode="auto">
            <a:xfrm flipH="1">
              <a:off x="6534150" y="3910013"/>
              <a:ext cx="609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53" name="Line 88"/>
            <p:cNvSpPr>
              <a:spLocks noChangeShapeType="1"/>
            </p:cNvSpPr>
            <p:nvPr/>
          </p:nvSpPr>
          <p:spPr bwMode="auto">
            <a:xfrm>
              <a:off x="6759575" y="4335463"/>
              <a:ext cx="0" cy="102235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54" name="Line 89"/>
            <p:cNvSpPr>
              <a:spLocks noChangeShapeType="1"/>
            </p:cNvSpPr>
            <p:nvPr/>
          </p:nvSpPr>
          <p:spPr bwMode="auto">
            <a:xfrm flipH="1">
              <a:off x="6783388" y="4835525"/>
              <a:ext cx="609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55" name="Text Box 56"/>
            <p:cNvSpPr txBox="1">
              <a:spLocks noChangeArrowheads="1"/>
            </p:cNvSpPr>
            <p:nvPr/>
          </p:nvSpPr>
          <p:spPr bwMode="auto">
            <a:xfrm>
              <a:off x="3697288" y="3590925"/>
              <a:ext cx="85536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000" i="1">
                  <a:solidFill>
                    <a:srgbClr val="CC0000"/>
                  </a:solidFill>
                  <a:latin typeface="+mn-lt"/>
                </a:rPr>
                <a:t>socket</a:t>
              </a:r>
            </a:p>
          </p:txBody>
        </p:sp>
        <p:sp>
          <p:nvSpPr>
            <p:cNvPr id="243756" name="Line 91"/>
            <p:cNvSpPr>
              <a:spLocks noChangeShapeType="1"/>
            </p:cNvSpPr>
            <p:nvPr/>
          </p:nvSpPr>
          <p:spPr bwMode="auto">
            <a:xfrm flipV="1">
              <a:off x="2700338" y="3790950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3757" name="Line 92"/>
            <p:cNvSpPr>
              <a:spLocks noChangeShapeType="1"/>
            </p:cNvSpPr>
            <p:nvPr/>
          </p:nvSpPr>
          <p:spPr bwMode="auto">
            <a:xfrm flipH="1" flipV="1">
              <a:off x="4635500" y="3779838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grpSp>
          <p:nvGrpSpPr>
            <p:cNvPr id="5" name="Group 93"/>
            <p:cNvGrpSpPr>
              <a:grpSpLocks/>
            </p:cNvGrpSpPr>
            <p:nvPr/>
          </p:nvGrpSpPr>
          <p:grpSpPr bwMode="auto">
            <a:xfrm>
              <a:off x="358775" y="4808538"/>
              <a:ext cx="1035050" cy="904875"/>
              <a:chOff x="-44" y="1473"/>
              <a:chExt cx="981" cy="1105"/>
            </a:xfrm>
          </p:grpSpPr>
          <p:pic>
            <p:nvPicPr>
              <p:cNvPr id="243762" name="Picture 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43763" name="Freeform 9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117 w 356"/>
                  <a:gd name="T3" fmla="*/ 180 h 368"/>
                  <a:gd name="T4" fmla="*/ 3697 w 356"/>
                  <a:gd name="T5" fmla="*/ 3762 h 368"/>
                  <a:gd name="T6" fmla="*/ 815 w 356"/>
                  <a:gd name="T7" fmla="*/ 470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6" name="Group 96"/>
            <p:cNvGrpSpPr>
              <a:grpSpLocks/>
            </p:cNvGrpSpPr>
            <p:nvPr/>
          </p:nvGrpSpPr>
          <p:grpSpPr bwMode="auto">
            <a:xfrm flipH="1">
              <a:off x="7075488" y="5091113"/>
              <a:ext cx="1035050" cy="904875"/>
              <a:chOff x="-44" y="1473"/>
              <a:chExt cx="981" cy="1105"/>
            </a:xfrm>
          </p:grpSpPr>
          <p:pic>
            <p:nvPicPr>
              <p:cNvPr id="243760" name="Picture 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43761" name="Freeform 98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117 w 356"/>
                  <a:gd name="T3" fmla="*/ 180 h 368"/>
                  <a:gd name="T4" fmla="*/ 3697 w 356"/>
                  <a:gd name="T5" fmla="*/ 3762 h 368"/>
                  <a:gd name="T6" fmla="*/ 815 w 356"/>
                  <a:gd name="T7" fmla="*/ 470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>
                  <a:latin typeface="+mn-lt"/>
                </a:endParaRPr>
              </a:p>
            </p:txBody>
          </p:sp>
        </p:grpSp>
      </p:grpSp>
      <p:sp>
        <p:nvSpPr>
          <p:cNvPr id="58" name="Slide Number Placeholder 5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57166"/>
            <a:ext cx="7772400" cy="1143000"/>
          </a:xfrm>
        </p:spPr>
        <p:txBody>
          <a:bodyPr/>
          <a:lstStyle/>
          <a:p>
            <a:r>
              <a:rPr lang="en-US" sz="4000">
                <a:ea typeface="ＭＳ Ｐゴシック" pitchFamily="34" charset="-128"/>
              </a:rPr>
              <a:t>Socket Programming </a:t>
            </a:r>
            <a:endParaRPr lang="en-US">
              <a:ea typeface="ＭＳ Ｐゴシック" pitchFamily="34" charset="-128"/>
            </a:endParaRPr>
          </a:p>
        </p:txBody>
      </p:sp>
      <p:sp>
        <p:nvSpPr>
          <p:cNvPr id="244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10" y="1714488"/>
            <a:ext cx="8021638" cy="1533525"/>
          </a:xfrm>
        </p:spPr>
        <p:txBody>
          <a:bodyPr>
            <a:normAutofit lnSpcReduction="10000"/>
          </a:bodyPr>
          <a:lstStyle/>
          <a:p>
            <a:pPr marL="342900" lvl="1" indent="-342900">
              <a:buSzPct val="65000"/>
              <a:buFont typeface="Wingdings" pitchFamily="2" charset="2"/>
              <a:buNone/>
            </a:pPr>
            <a:r>
              <a:rPr lang="en-US" sz="2800" i="1">
                <a:solidFill>
                  <a:srgbClr val="22228B"/>
                </a:solidFill>
                <a:ea typeface="ＭＳ Ｐゴシック" pitchFamily="34" charset="-128"/>
              </a:rPr>
              <a:t>Two socket types for two transport services:</a:t>
            </a:r>
          </a:p>
          <a:p>
            <a:pPr marL="342900" lvl="1" indent="-342900">
              <a:buSzPct val="65000"/>
            </a:pPr>
            <a:r>
              <a:rPr lang="en-US" sz="2800" i="1">
                <a:solidFill>
                  <a:srgbClr val="CC0000"/>
                </a:solidFill>
                <a:ea typeface="ＭＳ Ｐゴシック" pitchFamily="34" charset="-128"/>
              </a:rPr>
              <a:t>UDP:</a:t>
            </a:r>
            <a:r>
              <a:rPr lang="en-US" sz="280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2800">
                <a:ea typeface="ＭＳ Ｐゴシック" pitchFamily="34" charset="-128"/>
              </a:rPr>
              <a:t>unreliable datagram</a:t>
            </a:r>
            <a:endParaRPr lang="en-US" i="1">
              <a:solidFill>
                <a:srgbClr val="CC0000"/>
              </a:solidFill>
              <a:ea typeface="ＭＳ Ｐゴシック" pitchFamily="34" charset="-128"/>
            </a:endParaRPr>
          </a:p>
          <a:p>
            <a:pPr marL="342900" lvl="1" indent="-342900">
              <a:buSzPct val="65000"/>
            </a:pPr>
            <a:r>
              <a:rPr lang="en-US" sz="2800" i="1">
                <a:solidFill>
                  <a:srgbClr val="CC0000"/>
                </a:solidFill>
                <a:ea typeface="ＭＳ Ｐゴシック" pitchFamily="34" charset="-128"/>
              </a:rPr>
              <a:t>TCP:</a:t>
            </a:r>
            <a:r>
              <a:rPr lang="en-US" sz="2800">
                <a:ea typeface="ＭＳ Ｐゴシック" pitchFamily="34" charset="-128"/>
              </a:rPr>
              <a:t> reliable, byte stream-oriented </a:t>
            </a:r>
          </a:p>
          <a:p>
            <a:pPr>
              <a:buFont typeface="Wingdings" pitchFamily="2" charset="2"/>
              <a:buNone/>
            </a:pPr>
            <a:endParaRPr lang="en-US">
              <a:ea typeface="ＭＳ Ｐゴシック" pitchFamily="34" charset="-128"/>
            </a:endParaRPr>
          </a:p>
        </p:txBody>
      </p:sp>
      <p:sp>
        <p:nvSpPr>
          <p:cNvPr id="61" name="Rectangle 3"/>
          <p:cNvSpPr txBox="1">
            <a:spLocks noChangeArrowheads="1"/>
          </p:cNvSpPr>
          <p:nvPr/>
        </p:nvSpPr>
        <p:spPr bwMode="auto">
          <a:xfrm>
            <a:off x="571472" y="3429000"/>
            <a:ext cx="8021638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>
              <a:lnSpc>
                <a:spcPct val="85000"/>
              </a:lnSpc>
              <a:buClr>
                <a:srgbClr val="000099"/>
              </a:buClr>
              <a:buSzPct val="65000"/>
              <a:buFont typeface="Wingdings" pitchFamily="2" charset="2"/>
              <a:buNone/>
              <a:defRPr/>
            </a:pPr>
            <a:r>
              <a:rPr lang="en-US" sz="2400" b="0" i="1" kern="0">
                <a:solidFill>
                  <a:schemeClr val="accent6">
                    <a:lumMod val="75000"/>
                  </a:schemeClr>
                </a:solidFill>
                <a:latin typeface="+mn-lt"/>
                <a:ea typeface="ＭＳ Ｐゴシック" charset="0"/>
              </a:rPr>
              <a:t>Application example:</a:t>
            </a:r>
          </a:p>
          <a:p>
            <a:pPr marL="514350" indent="-514350">
              <a:lnSpc>
                <a:spcPct val="85000"/>
              </a:lnSpc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400" b="0" kern="0">
                <a:latin typeface="+mn-lt"/>
                <a:cs typeface="ＭＳ Ｐゴシック" charset="0"/>
              </a:rPr>
              <a:t>Client reads a line of characters (data) from its keyboard and sends the data to the server.</a:t>
            </a:r>
          </a:p>
          <a:p>
            <a:pPr marL="514350" indent="-514350">
              <a:lnSpc>
                <a:spcPct val="85000"/>
              </a:lnSpc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400" b="0" kern="0">
                <a:latin typeface="+mn-lt"/>
                <a:cs typeface="ＭＳ Ｐゴシック" charset="0"/>
              </a:rPr>
              <a:t>The server receives the data and converts characters to uppercase.</a:t>
            </a:r>
          </a:p>
          <a:p>
            <a:pPr marL="514350" indent="-514350">
              <a:lnSpc>
                <a:spcPct val="85000"/>
              </a:lnSpc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400" b="0" kern="0">
                <a:latin typeface="+mn-lt"/>
                <a:cs typeface="ＭＳ Ｐゴシック" charset="0"/>
              </a:rPr>
              <a:t>The server sends the modified data to the client.</a:t>
            </a:r>
          </a:p>
          <a:p>
            <a:pPr marL="514350" indent="-514350">
              <a:lnSpc>
                <a:spcPct val="85000"/>
              </a:lnSpc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400" b="0" kern="0">
                <a:latin typeface="+mn-lt"/>
                <a:cs typeface="ＭＳ Ｐゴシック" charset="0"/>
              </a:rPr>
              <a:t>The client receives the modified data and displays the line on its screen.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57166"/>
            <a:ext cx="7772400" cy="11430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C00000"/>
                </a:solidFill>
                <a:ea typeface="ＭＳ Ｐゴシック" pitchFamily="34" charset="-128"/>
              </a:rPr>
              <a:t>Socket Programming with UDP</a:t>
            </a:r>
          </a:p>
        </p:txBody>
      </p:sp>
      <p:sp>
        <p:nvSpPr>
          <p:cNvPr id="2457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28662" y="1643050"/>
            <a:ext cx="7265987" cy="46482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>
                <a:solidFill>
                  <a:srgbClr val="CC0000"/>
                </a:solidFill>
                <a:ea typeface="ＭＳ Ｐゴシック" pitchFamily="34" charset="-128"/>
              </a:rPr>
              <a:t>UDP: no </a:t>
            </a:r>
            <a:r>
              <a:rPr lang="ja-JP" altLang="en-US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>
                <a:solidFill>
                  <a:srgbClr val="CC0000"/>
                </a:solidFill>
                <a:ea typeface="ＭＳ Ｐゴシック" pitchFamily="34" charset="-128"/>
              </a:rPr>
              <a:t>connection</a:t>
            </a:r>
            <a:r>
              <a:rPr lang="ja-JP" altLang="en-US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r>
              <a:rPr lang="en-US" altLang="ja-JP">
                <a:solidFill>
                  <a:srgbClr val="CC0000"/>
                </a:solidFill>
                <a:ea typeface="ＭＳ Ｐゴシック" pitchFamily="34" charset="-128"/>
              </a:rPr>
              <a:t> between client &amp; server</a:t>
            </a:r>
          </a:p>
          <a:p>
            <a:r>
              <a:rPr lang="en-US" sz="2400">
                <a:ea typeface="ＭＳ Ｐゴシック" pitchFamily="34" charset="-128"/>
              </a:rPr>
              <a:t>no handshaking before sending data</a:t>
            </a:r>
          </a:p>
          <a:p>
            <a:r>
              <a:rPr lang="en-US" sz="2400">
                <a:ea typeface="ＭＳ Ｐゴシック" pitchFamily="34" charset="-128"/>
              </a:rPr>
              <a:t>sender explicitly attaches IP destination address and port # to each packet</a:t>
            </a:r>
          </a:p>
          <a:p>
            <a:r>
              <a:rPr lang="en-US" sz="2400" err="1">
                <a:ea typeface="ＭＳ Ｐゴシック" pitchFamily="34" charset="-128"/>
              </a:rPr>
              <a:t>rcvr</a:t>
            </a:r>
            <a:r>
              <a:rPr lang="en-US" sz="2400">
                <a:ea typeface="ＭＳ Ｐゴシック" pitchFamily="34" charset="-128"/>
              </a:rPr>
              <a:t> extracts sender IP address and port# from received packet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solidFill>
                  <a:srgbClr val="CC0000"/>
                </a:solidFill>
                <a:ea typeface="ＭＳ Ｐゴシック" pitchFamily="34" charset="-128"/>
              </a:rPr>
              <a:t>UDP: transmitted data may be lost or received out-of-order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>
                <a:solidFill>
                  <a:srgbClr val="CC0000"/>
                </a:solidFill>
                <a:ea typeface="ＭＳ Ｐゴシック" pitchFamily="34" charset="-128"/>
              </a:rPr>
              <a:t>Application viewpoint:</a:t>
            </a:r>
          </a:p>
          <a:p>
            <a:pPr>
              <a:lnSpc>
                <a:spcPts val="2800"/>
              </a:lnSpc>
              <a:spcBef>
                <a:spcPct val="0"/>
              </a:spcBef>
              <a:buClrTx/>
              <a:buSzTx/>
            </a:pPr>
            <a:r>
              <a:rPr lang="en-US" sz="2400">
                <a:ea typeface="ＭＳ Ｐゴシック" pitchFamily="34" charset="-128"/>
              </a:rPr>
              <a:t>UDP provides </a:t>
            </a:r>
            <a:r>
              <a:rPr lang="en-US" sz="2400" i="1">
                <a:ea typeface="ＭＳ Ｐゴシック" pitchFamily="34" charset="-128"/>
              </a:rPr>
              <a:t>unreliable</a:t>
            </a:r>
            <a:r>
              <a:rPr lang="en-US" sz="2400">
                <a:ea typeface="ＭＳ Ｐゴシック" pitchFamily="34" charset="-128"/>
              </a:rPr>
              <a:t> transfer  of groups of bytes (</a:t>
            </a:r>
            <a:r>
              <a:rPr lang="ja-JP" altLang="en-US" sz="2400">
                <a:ea typeface="ＭＳ Ｐゴシック" pitchFamily="34" charset="-128"/>
              </a:rPr>
              <a:t>“</a:t>
            </a:r>
            <a:r>
              <a:rPr lang="en-US" altLang="ja-JP" sz="2400" err="1">
                <a:ea typeface="ＭＳ Ｐゴシック" pitchFamily="34" charset="-128"/>
              </a:rPr>
              <a:t>datagrams</a:t>
            </a:r>
            <a:r>
              <a:rPr lang="ja-JP" altLang="en-US" sz="2400">
                <a:ea typeface="ＭＳ Ｐゴシック" pitchFamily="34" charset="-128"/>
              </a:rPr>
              <a:t>”</a:t>
            </a:r>
            <a:r>
              <a:rPr lang="en-US" altLang="ja-JP" sz="2400">
                <a:ea typeface="ＭＳ Ｐゴシック" pitchFamily="34" charset="-128"/>
              </a:rPr>
              <a:t>)  between client and server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>
              <a:solidFill>
                <a:srgbClr val="CC0000"/>
              </a:solidFill>
              <a:ea typeface="ＭＳ Ｐゴシック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7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7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7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7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57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57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6305E-9668-4B06-A56C-9C95A1506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579296" cy="4525963"/>
          </a:xfrm>
        </p:spPr>
        <p:txBody>
          <a:bodyPr/>
          <a:lstStyle/>
          <a:p>
            <a:r>
              <a:rPr lang="en-US"/>
              <a:t>UDP uses Datagram packets to implement connectionless packet delivery</a:t>
            </a:r>
          </a:p>
          <a:p>
            <a:endParaRPr lang="en-US"/>
          </a:p>
          <a:p>
            <a:r>
              <a:rPr lang="en-US"/>
              <a:t>Java classes are used </a:t>
            </a:r>
            <a:r>
              <a:rPr lang="en-US" err="1">
                <a:solidFill>
                  <a:srgbClr val="FF0000"/>
                </a:solidFill>
              </a:rPr>
              <a:t>DatagramPacket</a:t>
            </a:r>
            <a:r>
              <a:rPr lang="en-US"/>
              <a:t> and </a:t>
            </a:r>
            <a:r>
              <a:rPr lang="en-US" err="1">
                <a:solidFill>
                  <a:srgbClr val="FF0000"/>
                </a:solidFill>
              </a:rPr>
              <a:t>DatagramSocket</a:t>
            </a:r>
            <a:endParaRPr lang="en-US">
              <a:solidFill>
                <a:srgbClr val="FF0000"/>
              </a:solidFill>
            </a:endParaRPr>
          </a:p>
          <a:p>
            <a:pPr lvl="1"/>
            <a:r>
              <a:rPr lang="en-US" err="1"/>
              <a:t>DatagramPacket</a:t>
            </a:r>
            <a:r>
              <a:rPr lang="en-US"/>
              <a:t>(byte[] </a:t>
            </a:r>
            <a:r>
              <a:rPr lang="en-US" err="1"/>
              <a:t>buf</a:t>
            </a:r>
            <a:r>
              <a:rPr lang="en-US"/>
              <a:t>, int length, </a:t>
            </a:r>
            <a:r>
              <a:rPr lang="en-US" err="1"/>
              <a:t>InetAddress</a:t>
            </a:r>
            <a:r>
              <a:rPr lang="en-US"/>
              <a:t> address, int port);</a:t>
            </a:r>
          </a:p>
          <a:p>
            <a:r>
              <a:rPr lang="en-US">
                <a:solidFill>
                  <a:srgbClr val="FF0000"/>
                </a:solidFill>
              </a:rPr>
              <a:t>Send data:  </a:t>
            </a:r>
            <a:r>
              <a:rPr lang="en-US"/>
              <a:t>send(</a:t>
            </a:r>
            <a:r>
              <a:rPr lang="en-US" err="1"/>
              <a:t>DatagramPacket</a:t>
            </a:r>
            <a:r>
              <a:rPr lang="en-US"/>
              <a:t> p)</a:t>
            </a:r>
          </a:p>
          <a:p>
            <a:r>
              <a:rPr lang="en-US">
                <a:solidFill>
                  <a:srgbClr val="FF0000"/>
                </a:solidFill>
              </a:rPr>
              <a:t>Receive data: </a:t>
            </a:r>
            <a:r>
              <a:rPr lang="en-US"/>
              <a:t>receive(</a:t>
            </a:r>
            <a:r>
              <a:rPr lang="en-US" err="1"/>
              <a:t>DatagramPacket</a:t>
            </a:r>
            <a:r>
              <a:rPr lang="en-US"/>
              <a:t> p)</a:t>
            </a:r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DFBBB-C01A-4D34-9D50-931129520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6A6365-55C5-4658-B6A9-72B7E56C6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2492896"/>
            <a:ext cx="32480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4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57166"/>
            <a:ext cx="7772400" cy="1143000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C00000"/>
                </a:solidFill>
                <a:latin typeface="+mn-lt"/>
                <a:ea typeface="ＭＳ Ｐゴシック" pitchFamily="34" charset="-128"/>
              </a:rPr>
              <a:t>Client/server Socket Interaction: UDP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719763" y="4319575"/>
            <a:ext cx="2100262" cy="2111375"/>
            <a:chOff x="3485" y="2550"/>
            <a:chExt cx="1323" cy="133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3485" y="2964"/>
              <a:ext cx="1323" cy="916"/>
              <a:chOff x="3485" y="2964"/>
              <a:chExt cx="1323" cy="916"/>
            </a:xfrm>
          </p:grpSpPr>
          <p:sp>
            <p:nvSpPr>
              <p:cNvPr id="246812" name="Text Box 6"/>
              <p:cNvSpPr txBox="1">
                <a:spLocks noChangeArrowheads="1"/>
              </p:cNvSpPr>
              <p:nvPr/>
            </p:nvSpPr>
            <p:spPr bwMode="auto">
              <a:xfrm>
                <a:off x="3509" y="3473"/>
                <a:ext cx="842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b="0">
                    <a:solidFill>
                      <a:srgbClr val="000000"/>
                    </a:solidFill>
                    <a:latin typeface="+mn-lt"/>
                  </a:rPr>
                  <a:t>close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b="0">
                    <a:solidFill>
                      <a:srgbClr val="CC0000"/>
                    </a:solidFill>
                    <a:latin typeface="+mn-lt"/>
                  </a:rPr>
                  <a:t>clientSocke</a:t>
                </a:r>
                <a:r>
                  <a:rPr lang="en-US" sz="1800" b="0">
                    <a:solidFill>
                      <a:srgbClr val="FF0000"/>
                    </a:solidFill>
                    <a:latin typeface="+mn-lt"/>
                  </a:rPr>
                  <a:t>t</a:t>
                </a:r>
                <a:endParaRPr lang="en-US" sz="1800" b="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46813" name="Line 7"/>
              <p:cNvSpPr>
                <a:spLocks noChangeShapeType="1"/>
              </p:cNvSpPr>
              <p:nvPr/>
            </p:nvSpPr>
            <p:spPr bwMode="auto">
              <a:xfrm>
                <a:off x="3936" y="331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 b="0">
                  <a:latin typeface="+mn-lt"/>
                </a:endParaRPr>
              </a:p>
            </p:txBody>
          </p:sp>
          <p:sp>
            <p:nvSpPr>
              <p:cNvPr id="246814" name="Text Box 8"/>
              <p:cNvSpPr txBox="1">
                <a:spLocks noChangeArrowheads="1"/>
              </p:cNvSpPr>
              <p:nvPr/>
            </p:nvSpPr>
            <p:spPr bwMode="auto">
              <a:xfrm>
                <a:off x="3485" y="2964"/>
                <a:ext cx="1323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b="0">
                    <a:solidFill>
                      <a:srgbClr val="000000"/>
                    </a:solidFill>
                    <a:latin typeface="+mn-lt"/>
                  </a:rPr>
                  <a:t>read datagram from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b="0">
                    <a:solidFill>
                      <a:srgbClr val="CC0000"/>
                    </a:solidFill>
                    <a:latin typeface="+mn-lt"/>
                  </a:rPr>
                  <a:t>clientSocket</a:t>
                </a:r>
              </a:p>
            </p:txBody>
          </p:sp>
        </p:grpSp>
        <p:sp>
          <p:nvSpPr>
            <p:cNvPr id="246811" name="Line 9"/>
            <p:cNvSpPr>
              <a:spLocks noChangeShapeType="1"/>
            </p:cNvSpPr>
            <p:nvPr/>
          </p:nvSpPr>
          <p:spPr bwMode="auto">
            <a:xfrm>
              <a:off x="3864" y="2550"/>
              <a:ext cx="0" cy="5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209925" y="1571612"/>
            <a:ext cx="5934075" cy="2690813"/>
            <a:chOff x="1890" y="840"/>
            <a:chExt cx="3738" cy="1695"/>
          </a:xfrm>
        </p:grpSpPr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3324" y="1240"/>
              <a:ext cx="1857" cy="586"/>
              <a:chOff x="3168" y="1750"/>
              <a:chExt cx="1857" cy="586"/>
            </a:xfrm>
          </p:grpSpPr>
          <p:sp>
            <p:nvSpPr>
              <p:cNvPr id="246808" name="Text Box 12"/>
              <p:cNvSpPr txBox="1">
                <a:spLocks noChangeArrowheads="1"/>
              </p:cNvSpPr>
              <p:nvPr/>
            </p:nvSpPr>
            <p:spPr bwMode="auto">
              <a:xfrm>
                <a:off x="3241" y="1750"/>
                <a:ext cx="949" cy="4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b="0">
                    <a:solidFill>
                      <a:srgbClr val="000000"/>
                    </a:solidFill>
                    <a:latin typeface="+mn-lt"/>
                  </a:rPr>
                  <a:t>create socket: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2400" b="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46809" name="Text Box 13"/>
              <p:cNvSpPr txBox="1">
                <a:spLocks noChangeArrowheads="1"/>
              </p:cNvSpPr>
              <p:nvPr/>
            </p:nvSpPr>
            <p:spPr bwMode="auto">
              <a:xfrm>
                <a:off x="3168" y="1955"/>
                <a:ext cx="1857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en-US" sz="1800" b="0" err="1">
                    <a:solidFill>
                      <a:srgbClr val="CC0000"/>
                    </a:solidFill>
                    <a:latin typeface="+mn-lt"/>
                  </a:rPr>
                  <a:t>DatagramSocket</a:t>
                </a:r>
                <a:r>
                  <a:rPr lang="en-US" sz="1800" b="0">
                    <a:solidFill>
                      <a:srgbClr val="CC0000"/>
                    </a:solidFill>
                    <a:latin typeface="+mn-lt"/>
                  </a:rPr>
                  <a:t> </a:t>
                </a:r>
                <a:r>
                  <a:rPr lang="en-US" sz="1800" b="0" err="1">
                    <a:solidFill>
                      <a:srgbClr val="CC0000"/>
                    </a:solidFill>
                    <a:latin typeface="+mn-lt"/>
                  </a:rPr>
                  <a:t>clientSocket</a:t>
                </a:r>
                <a:r>
                  <a:rPr lang="en-US" sz="1800" b="0">
                    <a:solidFill>
                      <a:srgbClr val="CC0000"/>
                    </a:solidFill>
                    <a:latin typeface="+mn-lt"/>
                  </a:rPr>
                  <a:t> </a:t>
                </a:r>
              </a:p>
              <a:p>
                <a:pPr>
                  <a:lnSpc>
                    <a:spcPts val="2000"/>
                  </a:lnSpc>
                </a:pPr>
                <a:r>
                  <a:rPr lang="en-US" sz="1800" b="0">
                    <a:solidFill>
                      <a:srgbClr val="CC0000"/>
                    </a:solidFill>
                    <a:latin typeface="+mn-lt"/>
                  </a:rPr>
                  <a:t>= new </a:t>
                </a:r>
                <a:r>
                  <a:rPr lang="en-US" sz="1800" b="0" err="1">
                    <a:solidFill>
                      <a:srgbClr val="CC0000"/>
                    </a:solidFill>
                    <a:latin typeface="+mn-lt"/>
                  </a:rPr>
                  <a:t>DatagramSocket</a:t>
                </a:r>
                <a:r>
                  <a:rPr lang="en-US" sz="1800" b="0">
                    <a:solidFill>
                      <a:srgbClr val="CC0000"/>
                    </a:solidFill>
                    <a:latin typeface="+mn-lt"/>
                  </a:rPr>
                  <a:t>();</a:t>
                </a:r>
              </a:p>
            </p:txBody>
          </p:sp>
        </p:grpSp>
        <p:sp>
          <p:nvSpPr>
            <p:cNvPr id="246804" name="Text Box 14"/>
            <p:cNvSpPr txBox="1">
              <a:spLocks noChangeArrowheads="1"/>
            </p:cNvSpPr>
            <p:nvPr/>
          </p:nvSpPr>
          <p:spPr bwMode="auto">
            <a:xfrm>
              <a:off x="3570" y="84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46805" name="Text Box 15"/>
            <p:cNvSpPr txBox="1">
              <a:spLocks noChangeArrowheads="1"/>
            </p:cNvSpPr>
            <p:nvPr/>
          </p:nvSpPr>
          <p:spPr bwMode="auto">
            <a:xfrm>
              <a:off x="3389" y="1953"/>
              <a:ext cx="2239" cy="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  <a:latin typeface="+mn-lt"/>
                </a:rPr>
                <a:t>Create datagram with server IP and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  <a:latin typeface="+mn-lt"/>
                </a:rPr>
                <a:t>port=x; send datagram via</a:t>
              </a:r>
              <a:br>
                <a:rPr lang="en-US" sz="1800" b="0">
                  <a:solidFill>
                    <a:srgbClr val="CC0000"/>
                  </a:solidFill>
                  <a:latin typeface="+mn-lt"/>
                </a:rPr>
              </a:br>
              <a:r>
                <a:rPr lang="en-US" sz="1800" b="0" err="1">
                  <a:solidFill>
                    <a:srgbClr val="CC0000"/>
                  </a:solidFill>
                  <a:latin typeface="+mn-lt"/>
                </a:rPr>
                <a:t>clientSocket</a:t>
              </a:r>
              <a:endParaRPr lang="en-US" sz="1800" b="0">
                <a:solidFill>
                  <a:srgbClr val="CC0000"/>
                </a:solidFill>
                <a:latin typeface="+mn-lt"/>
              </a:endParaRPr>
            </a:p>
          </p:txBody>
        </p:sp>
        <p:sp>
          <p:nvSpPr>
            <p:cNvPr id="246806" name="Line 16"/>
            <p:cNvSpPr>
              <a:spLocks noChangeShapeType="1"/>
            </p:cNvSpPr>
            <p:nvPr/>
          </p:nvSpPr>
          <p:spPr bwMode="auto">
            <a:xfrm>
              <a:off x="3828" y="1830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46807" name="Line 17"/>
            <p:cNvSpPr>
              <a:spLocks noChangeShapeType="1"/>
            </p:cNvSpPr>
            <p:nvPr/>
          </p:nvSpPr>
          <p:spPr bwMode="auto">
            <a:xfrm flipH="1">
              <a:off x="1890" y="2208"/>
              <a:ext cx="1518" cy="25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 b="0">
                <a:latin typeface="+mn-lt"/>
              </a:endParaRPr>
            </a:p>
          </p:txBody>
        </p:sp>
      </p:grpSp>
      <p:sp>
        <p:nvSpPr>
          <p:cNvPr id="246788" name="Text Box 18"/>
          <p:cNvSpPr txBox="1">
            <a:spLocks noChangeArrowheads="1"/>
          </p:cNvSpPr>
          <p:nvPr/>
        </p:nvSpPr>
        <p:spPr bwMode="auto">
          <a:xfrm>
            <a:off x="1030288" y="2425687"/>
            <a:ext cx="23012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solidFill>
                  <a:srgbClr val="000000"/>
                </a:solidFill>
                <a:latin typeface="+mn-lt"/>
              </a:rPr>
              <a:t>create socket, port= x:</a:t>
            </a:r>
          </a:p>
        </p:txBody>
      </p:sp>
      <p:sp>
        <p:nvSpPr>
          <p:cNvPr id="246789" name="Text Box 19"/>
          <p:cNvSpPr txBox="1">
            <a:spLocks noChangeArrowheads="1"/>
          </p:cNvSpPr>
          <p:nvPr/>
        </p:nvSpPr>
        <p:spPr bwMode="auto">
          <a:xfrm>
            <a:off x="986011" y="2687962"/>
            <a:ext cx="3169009" cy="605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ts val="2000"/>
              </a:lnSpc>
            </a:pPr>
            <a:r>
              <a:rPr lang="en-US" sz="1800" b="0" err="1">
                <a:solidFill>
                  <a:srgbClr val="CC0000"/>
                </a:solidFill>
                <a:latin typeface="+mn-lt"/>
              </a:rPr>
              <a:t>serverSocket</a:t>
            </a:r>
            <a:r>
              <a:rPr lang="en-US" sz="1800" b="0">
                <a:solidFill>
                  <a:srgbClr val="CC0000"/>
                </a:solidFill>
                <a:latin typeface="+mn-lt"/>
              </a:rPr>
              <a:t> =</a:t>
            </a:r>
          </a:p>
          <a:p>
            <a:pPr>
              <a:lnSpc>
                <a:spcPts val="2000"/>
              </a:lnSpc>
            </a:pPr>
            <a:r>
              <a:rPr lang="en-US" sz="1800" b="0">
                <a:solidFill>
                  <a:srgbClr val="CC0000"/>
                </a:solidFill>
                <a:latin typeface="+mn-lt"/>
              </a:rPr>
              <a:t>socket(AF_INET,SOCK_DGRAM)</a:t>
            </a:r>
          </a:p>
        </p:txBody>
      </p: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1525588" y="3384537"/>
            <a:ext cx="2100262" cy="1122363"/>
            <a:chOff x="885" y="1982"/>
            <a:chExt cx="1323" cy="707"/>
          </a:xfrm>
        </p:grpSpPr>
        <p:sp>
          <p:nvSpPr>
            <p:cNvPr id="246801" name="Line 21"/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46802" name="Text Box 22"/>
            <p:cNvSpPr txBox="1">
              <a:spLocks noChangeArrowheads="1"/>
            </p:cNvSpPr>
            <p:nvPr/>
          </p:nvSpPr>
          <p:spPr bwMode="auto">
            <a:xfrm>
              <a:off x="885" y="2282"/>
              <a:ext cx="1323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  <a:latin typeface="+mn-lt"/>
                </a:rPr>
                <a:t>read datagram from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>
                  <a:solidFill>
                    <a:srgbClr val="CC0000"/>
                  </a:solidFill>
                  <a:latin typeface="+mn-lt"/>
                </a:rPr>
                <a:t>serverSocke</a:t>
              </a:r>
              <a:r>
                <a:rPr lang="en-US" sz="1800" b="0">
                  <a:solidFill>
                    <a:srgbClr val="FF0000"/>
                  </a:solidFill>
                  <a:latin typeface="+mn-lt"/>
                </a:rPr>
                <a:t>t</a:t>
              </a:r>
              <a:endParaRPr lang="en-US" sz="1800" b="0">
                <a:solidFill>
                  <a:srgbClr val="000000"/>
                </a:solidFill>
                <a:latin typeface="+mn-lt"/>
              </a:endParaRPr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1547813" y="4533887"/>
            <a:ext cx="3973512" cy="1660525"/>
            <a:chOff x="899" y="2720"/>
            <a:chExt cx="2503" cy="1046"/>
          </a:xfrm>
        </p:grpSpPr>
        <p:sp>
          <p:nvSpPr>
            <p:cNvPr id="246798" name="Text Box 24"/>
            <p:cNvSpPr txBox="1">
              <a:spLocks noChangeArrowheads="1"/>
            </p:cNvSpPr>
            <p:nvPr/>
          </p:nvSpPr>
          <p:spPr bwMode="auto">
            <a:xfrm>
              <a:off x="899" y="2835"/>
              <a:ext cx="983" cy="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  <a:latin typeface="+mn-lt"/>
                </a:rPr>
                <a:t>write reply to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>
                  <a:solidFill>
                    <a:srgbClr val="CC0000"/>
                  </a:solidFill>
                  <a:latin typeface="+mn-lt"/>
                </a:rPr>
                <a:t>serverSocket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  <a:latin typeface="+mn-lt"/>
                </a:rPr>
                <a:t>specifying </a:t>
              </a:r>
              <a:br>
                <a:rPr lang="en-US" sz="1800" b="0">
                  <a:solidFill>
                    <a:srgbClr val="000000"/>
                  </a:solidFill>
                  <a:latin typeface="+mn-lt"/>
                </a:rPr>
              </a:br>
              <a:r>
                <a:rPr lang="en-US" sz="1800" b="0">
                  <a:solidFill>
                    <a:srgbClr val="000000"/>
                  </a:solidFill>
                  <a:latin typeface="+mn-lt"/>
                </a:rPr>
                <a:t>client address,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  <a:latin typeface="+mn-lt"/>
                </a:rPr>
                <a:t>port number</a:t>
              </a:r>
            </a:p>
          </p:txBody>
        </p:sp>
        <p:sp>
          <p:nvSpPr>
            <p:cNvPr id="246799" name="Line 25"/>
            <p:cNvSpPr>
              <a:spLocks noChangeShapeType="1"/>
            </p:cNvSpPr>
            <p:nvPr/>
          </p:nvSpPr>
          <p:spPr bwMode="auto">
            <a:xfrm>
              <a:off x="1302" y="2720"/>
              <a:ext cx="0" cy="19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46800" name="Line 26"/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>
                <a:latin typeface="+mn-lt"/>
              </a:endParaRPr>
            </a:p>
          </p:txBody>
        </p:sp>
      </p:grpSp>
      <p:sp>
        <p:nvSpPr>
          <p:cNvPr id="246794" name="Text Box 22"/>
          <p:cNvSpPr txBox="1">
            <a:spLocks noChangeArrowheads="1"/>
          </p:cNvSpPr>
          <p:nvPr/>
        </p:nvSpPr>
        <p:spPr bwMode="auto">
          <a:xfrm>
            <a:off x="995336" y="1523972"/>
            <a:ext cx="36452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b="0">
                <a:solidFill>
                  <a:srgbClr val="000000"/>
                </a:solidFill>
                <a:latin typeface="+mn-lt"/>
              </a:rPr>
              <a:t>server</a:t>
            </a:r>
            <a:r>
              <a:rPr lang="en-US" sz="2000" b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400" b="0">
                <a:solidFill>
                  <a:srgbClr val="000000"/>
                </a:solidFill>
                <a:latin typeface="+mn-lt"/>
              </a:rPr>
              <a:t>(running on </a:t>
            </a:r>
            <a:r>
              <a:rPr lang="en-US" sz="2400" b="0" err="1">
                <a:solidFill>
                  <a:srgbClr val="000000"/>
                </a:solidFill>
                <a:latin typeface="+mn-lt"/>
              </a:rPr>
              <a:t>serverIP</a:t>
            </a:r>
            <a:r>
              <a:rPr lang="en-US" sz="2400" b="0">
                <a:solidFill>
                  <a:srgbClr val="000000"/>
                </a:solidFill>
                <a:latin typeface="+mn-lt"/>
              </a:rPr>
              <a:t>)</a:t>
            </a:r>
          </a:p>
        </p:txBody>
      </p:sp>
      <p:sp>
        <p:nvSpPr>
          <p:cNvPr id="246795" name="Text Box 23"/>
          <p:cNvSpPr txBox="1">
            <a:spLocks noChangeArrowheads="1"/>
          </p:cNvSpPr>
          <p:nvPr/>
        </p:nvSpPr>
        <p:spPr bwMode="auto">
          <a:xfrm>
            <a:off x="5638806" y="1595410"/>
            <a:ext cx="8887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0">
                <a:solidFill>
                  <a:srgbClr val="000000"/>
                </a:solidFill>
                <a:latin typeface="+mn-lt"/>
              </a:rPr>
              <a:t>client</a:t>
            </a:r>
          </a:p>
        </p:txBody>
      </p:sp>
      <p:sp>
        <p:nvSpPr>
          <p:cNvPr id="246796" name="Line 35"/>
          <p:cNvSpPr>
            <a:spLocks noChangeShapeType="1"/>
          </p:cNvSpPr>
          <p:nvPr/>
        </p:nvSpPr>
        <p:spPr bwMode="auto">
          <a:xfrm>
            <a:off x="1014413" y="1993887"/>
            <a:ext cx="3341687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lang="en-US" b="0">
              <a:latin typeface="+mn-lt"/>
            </a:endParaRPr>
          </a:p>
        </p:txBody>
      </p:sp>
      <p:sp>
        <p:nvSpPr>
          <p:cNvPr id="246797" name="Line 36"/>
          <p:cNvSpPr>
            <a:spLocks noChangeShapeType="1"/>
          </p:cNvSpPr>
          <p:nvPr/>
        </p:nvSpPr>
        <p:spPr bwMode="auto">
          <a:xfrm>
            <a:off x="5754688" y="2005000"/>
            <a:ext cx="6762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lang="en-US" b="0">
              <a:latin typeface="+mn-lt"/>
            </a:endParaRP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8" grpId="0"/>
      <p:bldP spid="24678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rmAutofit/>
          </a:bodyPr>
          <a:lstStyle/>
          <a:p>
            <a:r>
              <a:rPr lang="en-US">
                <a:latin typeface="+mn-lt"/>
              </a:rPr>
              <a:t>Example: Java client (UDP)</a:t>
            </a:r>
            <a:endParaRPr lang="en-US" sz="5400">
              <a:latin typeface="+mn-lt"/>
            </a:endParaRPr>
          </a:p>
        </p:txBody>
      </p:sp>
      <p:sp>
        <p:nvSpPr>
          <p:cNvPr id="112645" name="Rectangle 3"/>
          <p:cNvSpPr>
            <a:spLocks noChangeArrowheads="1"/>
          </p:cNvSpPr>
          <p:nvPr/>
        </p:nvSpPr>
        <p:spPr bwMode="auto">
          <a:xfrm>
            <a:off x="2149765" y="1063110"/>
            <a:ext cx="7134197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import java.io.*;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import java.net.*;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class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UDPClient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 public static void main(String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args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[]) throws Exception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   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DatagramSocket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clientSocket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= new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DatagramSocket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    byte[]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sendData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= new byte[1024];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    byte[]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receiveData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= new byte[1024];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pitchFamily="34" charset="0"/>
              <a:cs typeface="Arial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  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BufferedReader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inFromUser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     new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BufferedReader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(new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InputStreamReader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(System.in));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pitchFamily="34" charset="0"/>
              <a:cs typeface="Arial" pitchFamily="34" charset="0"/>
            </a:endParaRPr>
          </a:p>
          <a:p>
            <a:r>
              <a:rPr lang="en-US" sz="1800" b="0">
                <a:latin typeface="Arial" pitchFamily="34" charset="0"/>
                <a:cs typeface="Arial" pitchFamily="34" charset="0"/>
              </a:rPr>
              <a:t>      String sentence =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inFromUser.readLine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(); </a:t>
            </a:r>
          </a:p>
          <a:p>
            <a:r>
              <a:rPr lang="en-US" sz="1800" b="0">
                <a:latin typeface="Arial" pitchFamily="34" charset="0"/>
                <a:cs typeface="Arial" pitchFamily="34" charset="0"/>
              </a:rPr>
              <a:t>     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sendData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=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sentence.getBytes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();         </a:t>
            </a:r>
          </a:p>
          <a:p>
            <a:r>
              <a:rPr lang="en-US" sz="1800" b="0">
                <a:latin typeface="Arial" pitchFamily="34" charset="0"/>
                <a:cs typeface="Arial" pitchFamily="34" charset="0"/>
              </a:rPr>
              <a:t>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  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InetAddress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IPAddress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 = </a:t>
            </a:r>
            <a:r>
              <a:rPr lang="en-US" sz="1800" b="0" err="1">
                <a:latin typeface="Arial" pitchFamily="34" charset="0"/>
                <a:cs typeface="Arial" pitchFamily="34" charset="0"/>
              </a:rPr>
              <a:t>InetAddress.getByName</a:t>
            </a:r>
            <a:r>
              <a:rPr lang="en-US" sz="1800" b="0">
                <a:latin typeface="Arial" pitchFamily="34" charset="0"/>
                <a:cs typeface="Arial" pitchFamily="34" charset="0"/>
              </a:rPr>
              <a:t>("hostname");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pitchFamily="34" charset="0"/>
                <a:cs typeface="Arial" pitchFamily="34" charset="0"/>
              </a:rPr>
              <a:t>     </a:t>
            </a:r>
          </a:p>
        </p:txBody>
      </p:sp>
      <p:sp>
        <p:nvSpPr>
          <p:cNvPr id="112646" name="Text Box 4"/>
          <p:cNvSpPr txBox="1">
            <a:spLocks noChangeArrowheads="1"/>
          </p:cNvSpPr>
          <p:nvPr/>
        </p:nvSpPr>
        <p:spPr bwMode="auto">
          <a:xfrm>
            <a:off x="731212" y="2636912"/>
            <a:ext cx="133087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create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client socket</a:t>
            </a:r>
          </a:p>
        </p:txBody>
      </p:sp>
      <p:sp>
        <p:nvSpPr>
          <p:cNvPr id="112647" name="Text Box 5"/>
          <p:cNvSpPr txBox="1">
            <a:spLocks noChangeArrowheads="1"/>
          </p:cNvSpPr>
          <p:nvPr/>
        </p:nvSpPr>
        <p:spPr bwMode="auto">
          <a:xfrm>
            <a:off x="626440" y="4242221"/>
            <a:ext cx="143564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create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Input stream </a:t>
            </a:r>
          </a:p>
        </p:txBody>
      </p:sp>
      <p:sp>
        <p:nvSpPr>
          <p:cNvPr id="112648" name="Text Box 6"/>
          <p:cNvSpPr txBox="1">
            <a:spLocks noChangeArrowheads="1"/>
          </p:cNvSpPr>
          <p:nvPr/>
        </p:nvSpPr>
        <p:spPr bwMode="auto">
          <a:xfrm>
            <a:off x="0" y="5862682"/>
            <a:ext cx="195277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translate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 hostname to IP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address</a:t>
            </a:r>
            <a:r>
              <a:rPr lang="en-US" sz="1800" b="0" i="1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1800" b="0" i="1">
                <a:solidFill>
                  <a:srgbClr val="FF0000"/>
                </a:solidFill>
                <a:latin typeface="+mn-lt"/>
              </a:rPr>
              <a:t>using DNS</a:t>
            </a:r>
            <a:endParaRPr lang="en-US" sz="1800" b="0" i="1">
              <a:latin typeface="+mn-lt"/>
            </a:endParaRPr>
          </a:p>
        </p:txBody>
      </p:sp>
      <p:sp>
        <p:nvSpPr>
          <p:cNvPr id="112649" name="Freeform 7"/>
          <p:cNvSpPr>
            <a:spLocks/>
          </p:cNvSpPr>
          <p:nvPr/>
        </p:nvSpPr>
        <p:spPr bwMode="auto">
          <a:xfrm>
            <a:off x="2057400" y="2713112"/>
            <a:ext cx="184731" cy="615553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112650" name="Line 8"/>
          <p:cNvSpPr>
            <a:spLocks noChangeShapeType="1"/>
          </p:cNvSpPr>
          <p:nvPr/>
        </p:nvSpPr>
        <p:spPr bwMode="auto">
          <a:xfrm>
            <a:off x="2209800" y="3094112"/>
            <a:ext cx="319088" cy="6667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112651" name="Freeform 9"/>
          <p:cNvSpPr>
            <a:spLocks/>
          </p:cNvSpPr>
          <p:nvPr/>
        </p:nvSpPr>
        <p:spPr bwMode="auto">
          <a:xfrm>
            <a:off x="2081213" y="4397623"/>
            <a:ext cx="123825" cy="615553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112652" name="Line 10"/>
          <p:cNvSpPr>
            <a:spLocks noChangeShapeType="1"/>
          </p:cNvSpPr>
          <p:nvPr/>
        </p:nvSpPr>
        <p:spPr bwMode="auto">
          <a:xfrm flipV="1">
            <a:off x="2200276" y="4556993"/>
            <a:ext cx="361950" cy="17735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112653" name="Freeform 11"/>
          <p:cNvSpPr>
            <a:spLocks/>
          </p:cNvSpPr>
          <p:nvPr/>
        </p:nvSpPr>
        <p:spPr bwMode="auto">
          <a:xfrm>
            <a:off x="1971902" y="6019845"/>
            <a:ext cx="123825" cy="615553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112654" name="Line 12"/>
          <p:cNvSpPr>
            <a:spLocks noChangeShapeType="1"/>
          </p:cNvSpPr>
          <p:nvPr/>
        </p:nvSpPr>
        <p:spPr bwMode="auto">
          <a:xfrm flipV="1">
            <a:off x="2100489" y="6167482"/>
            <a:ext cx="36195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3D209E5-7165-4078-A968-05538CD6A34F}" type="slidenum">
              <a:rPr lang="en-US" b="0" smtClean="0">
                <a:latin typeface="+mn-lt"/>
              </a:rPr>
              <a:pPr/>
              <a:t>7</a:t>
            </a:fld>
            <a:endParaRPr lang="en-US" b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/>
      <p:bldP spid="112647" grpId="0"/>
      <p:bldP spid="112648" grpId="0"/>
      <p:bldP spid="112649" grpId="0" animBg="1"/>
      <p:bldP spid="112650" grpId="0" animBg="1"/>
      <p:bldP spid="112651" grpId="0" animBg="1"/>
      <p:bldP spid="112652" grpId="0" animBg="1"/>
      <p:bldP spid="112653" grpId="0" animBg="1"/>
      <p:bldP spid="1126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Example: Java client (UDP) - cont’d   </a:t>
            </a:r>
          </a:p>
        </p:txBody>
      </p:sp>
      <p:sp>
        <p:nvSpPr>
          <p:cNvPr id="113669" name="Rectangle 3"/>
          <p:cNvSpPr>
            <a:spLocks noChangeArrowheads="1"/>
          </p:cNvSpPr>
          <p:nvPr/>
        </p:nvSpPr>
        <p:spPr bwMode="auto">
          <a:xfrm>
            <a:off x="2124963" y="1857364"/>
            <a:ext cx="7019037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</a:t>
            </a:r>
            <a:r>
              <a:rPr lang="en-US" sz="1600" b="0" err="1">
                <a:latin typeface="Arial" charset="0"/>
              </a:rPr>
              <a:t>DatagramPacket</a:t>
            </a:r>
            <a:r>
              <a:rPr lang="en-US" sz="1600" b="0">
                <a:latin typeface="Arial" charset="0"/>
              </a:rPr>
              <a:t> </a:t>
            </a:r>
            <a:r>
              <a:rPr lang="en-US" sz="1600" b="0" err="1">
                <a:latin typeface="Arial" charset="0"/>
              </a:rPr>
              <a:t>sendPacket</a:t>
            </a:r>
            <a:r>
              <a:rPr lang="en-US" sz="16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new </a:t>
            </a:r>
            <a:r>
              <a:rPr lang="en-US" sz="1600" b="0" err="1">
                <a:latin typeface="Arial" charset="0"/>
              </a:rPr>
              <a:t>DatagramPacket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sendData</a:t>
            </a:r>
            <a:r>
              <a:rPr lang="en-US" sz="1600" b="0">
                <a:latin typeface="Arial" charset="0"/>
              </a:rPr>
              <a:t>, </a:t>
            </a:r>
            <a:r>
              <a:rPr lang="en-US" sz="1600" b="0" err="1">
                <a:latin typeface="Arial" charset="0"/>
              </a:rPr>
              <a:t>sendData.length</a:t>
            </a:r>
            <a:r>
              <a:rPr lang="en-US" sz="1600" b="0">
                <a:latin typeface="Arial" charset="0"/>
              </a:rPr>
              <a:t>, </a:t>
            </a:r>
            <a:r>
              <a:rPr lang="en-US" sz="1600" b="0" err="1">
                <a:latin typeface="Arial" charset="0"/>
              </a:rPr>
              <a:t>IPAddress</a:t>
            </a:r>
            <a:r>
              <a:rPr lang="en-US" sz="1600" b="0">
                <a:latin typeface="Arial" charset="0"/>
              </a:rPr>
              <a:t>, 9876);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</a:t>
            </a:r>
            <a:r>
              <a:rPr lang="en-US" sz="1600" b="0" err="1">
                <a:latin typeface="Arial" charset="0"/>
              </a:rPr>
              <a:t>clientSocket.send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sendPacket</a:t>
            </a:r>
            <a:r>
              <a:rPr lang="en-US" sz="1600" b="0">
                <a:latin typeface="Arial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</a:t>
            </a:r>
            <a:r>
              <a:rPr lang="en-US" sz="1600" b="0" err="1">
                <a:latin typeface="Arial" charset="0"/>
              </a:rPr>
              <a:t>DatagramPacket</a:t>
            </a:r>
            <a:r>
              <a:rPr lang="en-US" sz="1600" b="0">
                <a:latin typeface="Arial" charset="0"/>
              </a:rPr>
              <a:t> </a:t>
            </a:r>
            <a:r>
              <a:rPr lang="en-US" sz="1600" b="0" err="1">
                <a:latin typeface="Arial" charset="0"/>
              </a:rPr>
              <a:t>receivePacket</a:t>
            </a:r>
            <a:r>
              <a:rPr lang="en-US" sz="16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new </a:t>
            </a:r>
            <a:r>
              <a:rPr lang="en-US" sz="1600" b="0" err="1">
                <a:latin typeface="Arial" charset="0"/>
              </a:rPr>
              <a:t>DatagramPacket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receiveData</a:t>
            </a:r>
            <a:r>
              <a:rPr lang="en-US" sz="1600" b="0">
                <a:latin typeface="Arial" charset="0"/>
              </a:rPr>
              <a:t>, </a:t>
            </a:r>
            <a:r>
              <a:rPr lang="en-US" sz="1600" b="0" err="1">
                <a:latin typeface="Arial" charset="0"/>
              </a:rPr>
              <a:t>receiveData.length</a:t>
            </a:r>
            <a:r>
              <a:rPr lang="en-US" sz="1600" b="0">
                <a:latin typeface="Arial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</a:t>
            </a:r>
            <a:r>
              <a:rPr lang="en-US" sz="1600" b="0" err="1">
                <a:latin typeface="Arial" charset="0"/>
              </a:rPr>
              <a:t>clientSocket.receive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receivePacket</a:t>
            </a:r>
            <a:r>
              <a:rPr lang="en-US" sz="1600" b="0">
                <a:latin typeface="Arial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String </a:t>
            </a:r>
            <a:r>
              <a:rPr lang="en-US" sz="1600" b="0" err="1">
                <a:latin typeface="Arial" charset="0"/>
              </a:rPr>
              <a:t>modifiedSentence</a:t>
            </a:r>
            <a:r>
              <a:rPr lang="en-US" sz="16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new String(</a:t>
            </a:r>
            <a:r>
              <a:rPr lang="en-US" sz="1600" b="0" err="1">
                <a:latin typeface="Arial" charset="0"/>
              </a:rPr>
              <a:t>receivePacket.getData</a:t>
            </a:r>
            <a:r>
              <a:rPr lang="en-US" sz="1600" b="0">
                <a:latin typeface="Arial" charset="0"/>
              </a:rPr>
              <a:t>());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</a:t>
            </a:r>
            <a:r>
              <a:rPr lang="en-US" sz="1600" b="0" err="1">
                <a:latin typeface="Arial" charset="0"/>
              </a:rPr>
              <a:t>System.out.println</a:t>
            </a:r>
            <a:r>
              <a:rPr lang="en-US" sz="1600" b="0">
                <a:latin typeface="Arial" charset="0"/>
              </a:rPr>
              <a:t>("FROM SERVER:" + </a:t>
            </a:r>
            <a:r>
              <a:rPr lang="en-US" sz="1600" b="0" err="1">
                <a:latin typeface="Arial" charset="0"/>
              </a:rPr>
              <a:t>modifiedSentence</a:t>
            </a:r>
            <a:r>
              <a:rPr lang="en-US" sz="1600" b="0">
                <a:latin typeface="Arial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</a:t>
            </a:r>
            <a:r>
              <a:rPr lang="en-US" sz="1600" b="0" err="1">
                <a:latin typeface="Arial" charset="0"/>
              </a:rPr>
              <a:t>clientSocket.close</a:t>
            </a:r>
            <a:r>
              <a:rPr lang="en-US" sz="16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}</a:t>
            </a:r>
            <a:r>
              <a:rPr lang="en-US" b="0">
                <a:latin typeface="Times New Roman" pitchFamily="18" charset="0"/>
              </a:rPr>
              <a:t> </a:t>
            </a:r>
          </a:p>
        </p:txBody>
      </p:sp>
      <p:sp>
        <p:nvSpPr>
          <p:cNvPr id="113670" name="Text Box 4"/>
          <p:cNvSpPr txBox="1">
            <a:spLocks noChangeArrowheads="1"/>
          </p:cNvSpPr>
          <p:nvPr/>
        </p:nvSpPr>
        <p:spPr bwMode="auto">
          <a:xfrm>
            <a:off x="-228600" y="1600200"/>
            <a:ext cx="2392363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create datagram with data-to-send,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length, IP </a:t>
            </a:r>
            <a:r>
              <a:rPr lang="en-US" sz="1800" b="0" i="1" err="1">
                <a:solidFill>
                  <a:srgbClr val="000099"/>
                </a:solidFill>
                <a:latin typeface="+mn-lt"/>
              </a:rPr>
              <a:t>addr</a:t>
            </a:r>
            <a:r>
              <a:rPr lang="en-US" sz="1800" b="0" i="1">
                <a:solidFill>
                  <a:srgbClr val="000099"/>
                </a:solidFill>
                <a:latin typeface="+mn-lt"/>
              </a:rPr>
              <a:t>, port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lang="en-US" sz="1800" b="0" i="1">
              <a:latin typeface="+mn-lt"/>
            </a:endParaRPr>
          </a:p>
        </p:txBody>
      </p:sp>
      <p:sp>
        <p:nvSpPr>
          <p:cNvPr id="113671" name="Text Box 5"/>
          <p:cNvSpPr txBox="1">
            <a:spLocks noChangeArrowheads="1"/>
          </p:cNvSpPr>
          <p:nvPr/>
        </p:nvSpPr>
        <p:spPr bwMode="auto">
          <a:xfrm>
            <a:off x="563178" y="2516187"/>
            <a:ext cx="160338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send datagram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to server</a:t>
            </a:r>
          </a:p>
        </p:txBody>
      </p:sp>
      <p:sp>
        <p:nvSpPr>
          <p:cNvPr id="113672" name="Text Box 6"/>
          <p:cNvSpPr txBox="1">
            <a:spLocks noChangeArrowheads="1"/>
          </p:cNvSpPr>
          <p:nvPr/>
        </p:nvSpPr>
        <p:spPr bwMode="auto">
          <a:xfrm>
            <a:off x="574398" y="3581400"/>
            <a:ext cx="159216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read datagram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from server</a:t>
            </a:r>
          </a:p>
        </p:txBody>
      </p:sp>
      <p:sp>
        <p:nvSpPr>
          <p:cNvPr id="113673" name="Freeform 7"/>
          <p:cNvSpPr>
            <a:spLocks/>
          </p:cNvSpPr>
          <p:nvPr/>
        </p:nvSpPr>
        <p:spPr bwMode="auto">
          <a:xfrm>
            <a:off x="2081196" y="1898642"/>
            <a:ext cx="152400" cy="461665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3674" name="Line 8"/>
          <p:cNvSpPr>
            <a:spLocks noChangeShapeType="1"/>
          </p:cNvSpPr>
          <p:nvPr/>
        </p:nvSpPr>
        <p:spPr bwMode="auto">
          <a:xfrm flipV="1">
            <a:off x="2214546" y="2214554"/>
            <a:ext cx="34290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3675" name="Freeform 9"/>
          <p:cNvSpPr>
            <a:spLocks/>
          </p:cNvSpPr>
          <p:nvPr/>
        </p:nvSpPr>
        <p:spPr bwMode="auto">
          <a:xfrm>
            <a:off x="2071687" y="2681288"/>
            <a:ext cx="123825" cy="461665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3676" name="Line 10"/>
          <p:cNvSpPr>
            <a:spLocks noChangeShapeType="1"/>
          </p:cNvSpPr>
          <p:nvPr/>
        </p:nvSpPr>
        <p:spPr bwMode="auto">
          <a:xfrm flipV="1">
            <a:off x="2209800" y="2819400"/>
            <a:ext cx="309562" cy="158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3677" name="Freeform 11"/>
          <p:cNvSpPr>
            <a:spLocks/>
          </p:cNvSpPr>
          <p:nvPr/>
        </p:nvSpPr>
        <p:spPr bwMode="auto">
          <a:xfrm>
            <a:off x="2095500" y="3644900"/>
            <a:ext cx="123825" cy="461665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3678" name="Line 12"/>
          <p:cNvSpPr>
            <a:spLocks noChangeShapeType="1"/>
          </p:cNvSpPr>
          <p:nvPr/>
        </p:nvSpPr>
        <p:spPr bwMode="auto">
          <a:xfrm flipV="1">
            <a:off x="2233613" y="3963987"/>
            <a:ext cx="295275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3D209E5-7165-4078-A968-05538CD6A34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0" grpId="0"/>
      <p:bldP spid="113671" grpId="0"/>
      <p:bldP spid="113672" grpId="0"/>
      <p:bldP spid="113673" grpId="0" animBg="1"/>
      <p:bldP spid="113674" grpId="0" animBg="1"/>
      <p:bldP spid="113675" grpId="0" animBg="1"/>
      <p:bldP spid="113676" grpId="0" animBg="1"/>
      <p:bldP spid="113677" grpId="0" animBg="1"/>
      <p:bldP spid="11367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Example: Java Server (UDP)</a:t>
            </a:r>
          </a:p>
        </p:txBody>
      </p:sp>
      <p:sp>
        <p:nvSpPr>
          <p:cNvPr id="114693" name="Rectangle 3"/>
          <p:cNvSpPr>
            <a:spLocks noChangeArrowheads="1"/>
          </p:cNvSpPr>
          <p:nvPr/>
        </p:nvSpPr>
        <p:spPr bwMode="auto">
          <a:xfrm>
            <a:off x="2565400" y="1541463"/>
            <a:ext cx="6218369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import java.io.*;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import java.net.*;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class </a:t>
            </a:r>
            <a:r>
              <a:rPr lang="en-US" sz="1600" b="0" err="1">
                <a:latin typeface="Arial" charset="0"/>
              </a:rPr>
              <a:t>UDPServer</a:t>
            </a:r>
            <a:r>
              <a:rPr lang="en-US" sz="1600" b="0">
                <a:latin typeface="Arial" charset="0"/>
              </a:rPr>
              <a:t>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public static void main(String </a:t>
            </a:r>
            <a:r>
              <a:rPr lang="en-US" sz="1600" b="0" err="1">
                <a:latin typeface="Arial" charset="0"/>
              </a:rPr>
              <a:t>args</a:t>
            </a:r>
            <a:r>
              <a:rPr lang="en-US" sz="1600" b="0">
                <a:latin typeface="Arial" charset="0"/>
              </a:rPr>
              <a:t>[]) throws Exception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</a:t>
            </a:r>
            <a:r>
              <a:rPr lang="en-US" sz="1600" b="0" err="1">
                <a:latin typeface="Arial" charset="0"/>
              </a:rPr>
              <a:t>DatagramSocket</a:t>
            </a:r>
            <a:r>
              <a:rPr lang="en-US" sz="1600" b="0">
                <a:latin typeface="Arial" charset="0"/>
              </a:rPr>
              <a:t> </a:t>
            </a:r>
            <a:r>
              <a:rPr lang="en-US" sz="1600" b="0" err="1">
                <a:latin typeface="Arial" charset="0"/>
              </a:rPr>
              <a:t>serverSocket</a:t>
            </a:r>
            <a:r>
              <a:rPr lang="en-US" sz="1600" b="0">
                <a:latin typeface="Arial" charset="0"/>
              </a:rPr>
              <a:t> = new </a:t>
            </a:r>
            <a:r>
              <a:rPr lang="en-US" sz="1600" b="0" err="1">
                <a:latin typeface="Arial" charset="0"/>
              </a:rPr>
              <a:t>DatagramSocket</a:t>
            </a:r>
            <a:r>
              <a:rPr lang="en-US" sz="1600" b="0">
                <a:latin typeface="Arial" charset="0"/>
              </a:rPr>
              <a:t>(9876);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byte[] </a:t>
            </a:r>
            <a:r>
              <a:rPr lang="en-US" sz="1600" b="0" err="1">
                <a:latin typeface="Arial" charset="0"/>
              </a:rPr>
              <a:t>receiveData</a:t>
            </a:r>
            <a:r>
              <a:rPr lang="en-US" sz="1600" b="0">
                <a:latin typeface="Arial" charset="0"/>
              </a:rPr>
              <a:t> = new byte[1024];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byte[] </a:t>
            </a:r>
            <a:r>
              <a:rPr lang="en-US" sz="1600" b="0" err="1">
                <a:latin typeface="Arial" charset="0"/>
              </a:rPr>
              <a:t>sendData</a:t>
            </a:r>
            <a:r>
              <a:rPr lang="en-US" sz="1600" b="0">
                <a:latin typeface="Arial" charset="0"/>
              </a:rPr>
              <a:t>  = new byte[1024];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while(true)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</a:t>
            </a:r>
            <a:r>
              <a:rPr lang="en-US" sz="1600" b="0" err="1">
                <a:latin typeface="Arial" charset="0"/>
              </a:rPr>
              <a:t>DatagramPacket</a:t>
            </a:r>
            <a:r>
              <a:rPr lang="en-US" sz="1600" b="0">
                <a:latin typeface="Arial" charset="0"/>
              </a:rPr>
              <a:t> </a:t>
            </a:r>
            <a:r>
              <a:rPr lang="en-US" sz="1600" b="0" err="1">
                <a:latin typeface="Arial" charset="0"/>
              </a:rPr>
              <a:t>receivePacket</a:t>
            </a:r>
            <a:r>
              <a:rPr lang="en-US" sz="16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  new </a:t>
            </a:r>
            <a:r>
              <a:rPr lang="en-US" sz="1600" b="0" err="1">
                <a:latin typeface="Arial" charset="0"/>
              </a:rPr>
              <a:t>DatagramPacket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receiveData</a:t>
            </a:r>
            <a:r>
              <a:rPr lang="en-US" sz="1600" b="0">
                <a:latin typeface="Arial" charset="0"/>
              </a:rPr>
              <a:t>, </a:t>
            </a:r>
            <a:r>
              <a:rPr lang="en-US" sz="1600" b="0" err="1">
                <a:latin typeface="Arial" charset="0"/>
              </a:rPr>
              <a:t>receiveData.length</a:t>
            </a:r>
            <a:r>
              <a:rPr lang="en-US" sz="1600" b="0">
                <a:latin typeface="Arial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</a:t>
            </a:r>
            <a:r>
              <a:rPr lang="en-US" sz="1600" b="0" err="1">
                <a:latin typeface="Arial" charset="0"/>
              </a:rPr>
              <a:t>serverSocket.receive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receivePacket</a:t>
            </a:r>
            <a:r>
              <a:rPr lang="en-US" sz="1600" b="0">
                <a:latin typeface="Arial" charset="0"/>
              </a:rPr>
              <a:t>);</a:t>
            </a:r>
            <a:r>
              <a:rPr lang="en-US" b="0">
                <a:latin typeface="Times New Roman" pitchFamily="18" charset="0"/>
              </a:rPr>
              <a:t> </a:t>
            </a:r>
          </a:p>
        </p:txBody>
      </p:sp>
      <p:sp>
        <p:nvSpPr>
          <p:cNvPr id="114694" name="Text Box 4"/>
          <p:cNvSpPr txBox="1">
            <a:spLocks noChangeArrowheads="1"/>
          </p:cNvSpPr>
          <p:nvPr/>
        </p:nvSpPr>
        <p:spPr bwMode="auto">
          <a:xfrm>
            <a:off x="533400" y="3124200"/>
            <a:ext cx="175317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i="1">
                <a:solidFill>
                  <a:srgbClr val="000099"/>
                </a:solidFill>
                <a:latin typeface="+mn-lt"/>
              </a:rPr>
              <a:t>create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i="1">
                <a:solidFill>
                  <a:srgbClr val="000099"/>
                </a:solidFill>
                <a:latin typeface="+mn-lt"/>
              </a:rPr>
              <a:t>datagram socket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i="1">
                <a:solidFill>
                  <a:srgbClr val="000099"/>
                </a:solidFill>
                <a:latin typeface="+mn-lt"/>
              </a:rPr>
              <a:t>at port 9876</a:t>
            </a:r>
          </a:p>
        </p:txBody>
      </p:sp>
      <p:sp>
        <p:nvSpPr>
          <p:cNvPr id="114695" name="Text Box 5"/>
          <p:cNvSpPr txBox="1">
            <a:spLocks noChangeArrowheads="1"/>
          </p:cNvSpPr>
          <p:nvPr/>
        </p:nvSpPr>
        <p:spPr bwMode="auto">
          <a:xfrm>
            <a:off x="381000" y="4953000"/>
            <a:ext cx="192982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i="1">
                <a:solidFill>
                  <a:srgbClr val="000099"/>
                </a:solidFill>
                <a:latin typeface="+mn-lt"/>
              </a:rPr>
              <a:t>create space for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i="1">
                <a:solidFill>
                  <a:srgbClr val="000099"/>
                </a:solidFill>
                <a:latin typeface="+mn-lt"/>
              </a:rPr>
              <a:t>received datagram</a:t>
            </a:r>
          </a:p>
        </p:txBody>
      </p:sp>
      <p:sp>
        <p:nvSpPr>
          <p:cNvPr id="114696" name="Text Box 6"/>
          <p:cNvSpPr txBox="1">
            <a:spLocks noChangeArrowheads="1"/>
          </p:cNvSpPr>
          <p:nvPr/>
        </p:nvSpPr>
        <p:spPr bwMode="auto">
          <a:xfrm>
            <a:off x="1071538" y="5857892"/>
            <a:ext cx="1225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i="1">
                <a:solidFill>
                  <a:srgbClr val="000099"/>
                </a:solidFill>
                <a:latin typeface="+mn-lt"/>
              </a:rPr>
              <a:t>receive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i="1">
                <a:solidFill>
                  <a:srgbClr val="000099"/>
                </a:solidFill>
                <a:latin typeface="+mn-lt"/>
              </a:rPr>
              <a:t>datagram</a:t>
            </a:r>
          </a:p>
        </p:txBody>
      </p:sp>
      <p:sp>
        <p:nvSpPr>
          <p:cNvPr id="114697" name="Freeform 7"/>
          <p:cNvSpPr>
            <a:spLocks/>
          </p:cNvSpPr>
          <p:nvPr/>
        </p:nvSpPr>
        <p:spPr bwMode="auto">
          <a:xfrm>
            <a:off x="2286000" y="3276600"/>
            <a:ext cx="152400" cy="461665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i="1">
              <a:latin typeface="+mn-lt"/>
            </a:endParaRPr>
          </a:p>
        </p:txBody>
      </p:sp>
      <p:sp>
        <p:nvSpPr>
          <p:cNvPr id="114698" name="Line 8"/>
          <p:cNvSpPr>
            <a:spLocks noChangeShapeType="1"/>
          </p:cNvSpPr>
          <p:nvPr/>
        </p:nvSpPr>
        <p:spPr bwMode="auto">
          <a:xfrm>
            <a:off x="2457450" y="3405188"/>
            <a:ext cx="419100" cy="47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4699" name="Freeform 9"/>
          <p:cNvSpPr>
            <a:spLocks/>
          </p:cNvSpPr>
          <p:nvPr/>
        </p:nvSpPr>
        <p:spPr bwMode="auto">
          <a:xfrm>
            <a:off x="2362200" y="5072063"/>
            <a:ext cx="85725" cy="461665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i="1">
              <a:latin typeface="+mn-lt"/>
            </a:endParaRPr>
          </a:p>
        </p:txBody>
      </p:sp>
      <p:sp>
        <p:nvSpPr>
          <p:cNvPr id="114700" name="Line 10"/>
          <p:cNvSpPr>
            <a:spLocks noChangeShapeType="1"/>
          </p:cNvSpPr>
          <p:nvPr/>
        </p:nvSpPr>
        <p:spPr bwMode="auto">
          <a:xfrm>
            <a:off x="2471738" y="5407025"/>
            <a:ext cx="604837" cy="12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4701" name="Freeform 11"/>
          <p:cNvSpPr>
            <a:spLocks/>
          </p:cNvSpPr>
          <p:nvPr/>
        </p:nvSpPr>
        <p:spPr bwMode="auto">
          <a:xfrm>
            <a:off x="2357413" y="5948380"/>
            <a:ext cx="138113" cy="461665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i="1">
              <a:latin typeface="+mn-lt"/>
            </a:endParaRPr>
          </a:p>
        </p:txBody>
      </p:sp>
      <p:sp>
        <p:nvSpPr>
          <p:cNvPr id="114702" name="Line 12"/>
          <p:cNvSpPr>
            <a:spLocks noChangeShapeType="1"/>
          </p:cNvSpPr>
          <p:nvPr/>
        </p:nvSpPr>
        <p:spPr bwMode="auto">
          <a:xfrm flipV="1">
            <a:off x="2495526" y="6115067"/>
            <a:ext cx="592137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3D209E5-7165-4078-A968-05538CD6A34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4" grpId="0"/>
      <p:bldP spid="114695" grpId="0"/>
      <p:bldP spid="114696" grpId="0"/>
      <p:bldP spid="114697" grpId="0" animBg="1"/>
      <p:bldP spid="114698" grpId="0" animBg="1"/>
      <p:bldP spid="114699" grpId="0" animBg="1"/>
      <p:bldP spid="114700" grpId="0" animBg="1"/>
      <p:bldP spid="114701" grpId="0" animBg="1"/>
      <p:bldP spid="11470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Example: Java Server (UDP) – cont’d</a:t>
            </a:r>
          </a:p>
        </p:txBody>
      </p:sp>
      <p:sp>
        <p:nvSpPr>
          <p:cNvPr id="115717" name="Rectangle 3"/>
          <p:cNvSpPr>
            <a:spLocks noChangeArrowheads="1"/>
          </p:cNvSpPr>
          <p:nvPr/>
        </p:nvSpPr>
        <p:spPr bwMode="auto">
          <a:xfrm>
            <a:off x="1928794" y="1142984"/>
            <a:ext cx="6610271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String sentence = new String(</a:t>
            </a:r>
            <a:r>
              <a:rPr lang="en-US" sz="1600" b="0" err="1">
                <a:latin typeface="Arial" charset="0"/>
              </a:rPr>
              <a:t>receivePacket.getData</a:t>
            </a:r>
            <a:r>
              <a:rPr lang="en-US" sz="1600" b="0">
                <a:latin typeface="Arial" charset="0"/>
              </a:rPr>
              <a:t>());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</a:t>
            </a:r>
            <a:r>
              <a:rPr lang="en-US" sz="1600" b="0" err="1">
                <a:latin typeface="Arial" charset="0"/>
              </a:rPr>
              <a:t>InetAddress</a:t>
            </a:r>
            <a:r>
              <a:rPr lang="en-US" sz="1600" b="0">
                <a:latin typeface="Arial" charset="0"/>
              </a:rPr>
              <a:t> </a:t>
            </a:r>
            <a:r>
              <a:rPr lang="en-US" sz="1600" b="0" err="1">
                <a:latin typeface="Arial" charset="0"/>
              </a:rPr>
              <a:t>IPAddress</a:t>
            </a:r>
            <a:r>
              <a:rPr lang="en-US" sz="1600" b="0">
                <a:latin typeface="Arial" charset="0"/>
              </a:rPr>
              <a:t> = </a:t>
            </a:r>
            <a:r>
              <a:rPr lang="en-US" sz="1600" b="0" err="1">
                <a:latin typeface="Arial" charset="0"/>
              </a:rPr>
              <a:t>receivePacket.getAddress</a:t>
            </a:r>
            <a:r>
              <a:rPr lang="en-US" sz="16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</a:t>
            </a:r>
            <a:r>
              <a:rPr lang="en-US" sz="1600" b="0" err="1">
                <a:latin typeface="Arial" charset="0"/>
              </a:rPr>
              <a:t>int</a:t>
            </a:r>
            <a:r>
              <a:rPr lang="en-US" sz="1600" b="0">
                <a:latin typeface="Arial" charset="0"/>
              </a:rPr>
              <a:t> port = </a:t>
            </a:r>
            <a:r>
              <a:rPr lang="en-US" sz="1600" b="0" err="1">
                <a:latin typeface="Arial" charset="0"/>
              </a:rPr>
              <a:t>receivePacket.getPort</a:t>
            </a:r>
            <a:r>
              <a:rPr lang="en-US" sz="16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           String </a:t>
            </a:r>
            <a:r>
              <a:rPr lang="en-US" sz="1600" b="0" err="1">
                <a:latin typeface="Arial" charset="0"/>
              </a:rPr>
              <a:t>capitalizedSentence</a:t>
            </a:r>
            <a:r>
              <a:rPr lang="en-US" sz="1600" b="0">
                <a:latin typeface="Arial" charset="0"/>
              </a:rPr>
              <a:t> = </a:t>
            </a:r>
            <a:r>
              <a:rPr lang="en-US" sz="1600" b="0" err="1">
                <a:latin typeface="Arial" charset="0"/>
              </a:rPr>
              <a:t>sentence.toUpperCase</a:t>
            </a:r>
            <a:r>
              <a:rPr lang="en-US" sz="16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</a:t>
            </a:r>
            <a:r>
              <a:rPr lang="en-US" sz="1600" b="0" err="1">
                <a:latin typeface="Arial" charset="0"/>
              </a:rPr>
              <a:t>sendData</a:t>
            </a:r>
            <a:r>
              <a:rPr lang="en-US" sz="1600" b="0">
                <a:latin typeface="Arial" charset="0"/>
              </a:rPr>
              <a:t> = </a:t>
            </a:r>
            <a:r>
              <a:rPr lang="en-US" sz="1600" b="0" err="1">
                <a:latin typeface="Arial" charset="0"/>
              </a:rPr>
              <a:t>capitalizedSentence.getBytes</a:t>
            </a:r>
            <a:r>
              <a:rPr lang="en-US" sz="16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</a:t>
            </a:r>
            <a:r>
              <a:rPr lang="en-US" sz="1600" b="0" err="1">
                <a:latin typeface="Arial" charset="0"/>
              </a:rPr>
              <a:t>DatagramPacket</a:t>
            </a:r>
            <a:r>
              <a:rPr lang="en-US" sz="1600" b="0">
                <a:latin typeface="Arial" charset="0"/>
              </a:rPr>
              <a:t> </a:t>
            </a:r>
            <a:r>
              <a:rPr lang="en-US" sz="1600" b="0" err="1">
                <a:latin typeface="Arial" charset="0"/>
              </a:rPr>
              <a:t>sendPacket</a:t>
            </a:r>
            <a:r>
              <a:rPr lang="en-US" sz="16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  new </a:t>
            </a:r>
            <a:r>
              <a:rPr lang="en-US" sz="1600" b="0" err="1">
                <a:latin typeface="Arial" charset="0"/>
              </a:rPr>
              <a:t>DatagramPacket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sendData</a:t>
            </a:r>
            <a:r>
              <a:rPr lang="en-US" sz="1600" b="0">
                <a:latin typeface="Arial" charset="0"/>
              </a:rPr>
              <a:t>, </a:t>
            </a:r>
            <a:r>
              <a:rPr lang="en-US" sz="1600" b="0" err="1">
                <a:latin typeface="Arial" charset="0"/>
              </a:rPr>
              <a:t>sendData.length</a:t>
            </a:r>
            <a:r>
              <a:rPr lang="en-US" sz="1600" b="0">
                <a:latin typeface="Arial" charset="0"/>
              </a:rPr>
              <a:t>, </a:t>
            </a:r>
            <a:r>
              <a:rPr lang="en-US" sz="1600" b="0" err="1">
                <a:latin typeface="Arial" charset="0"/>
              </a:rPr>
              <a:t>IPAddress</a:t>
            </a:r>
            <a:r>
              <a:rPr lang="en-US" sz="1600" b="0">
                <a:latin typeface="Arial" charset="0"/>
              </a:rPr>
              <a:t>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                    port);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</a:t>
            </a:r>
            <a:r>
              <a:rPr lang="en-US" sz="1600" b="0" err="1">
                <a:latin typeface="Arial" charset="0"/>
              </a:rPr>
              <a:t>serverSocket.send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sendPacket</a:t>
            </a:r>
            <a:r>
              <a:rPr lang="en-US" sz="1600" b="0">
                <a:latin typeface="Arial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}</a:t>
            </a:r>
            <a:r>
              <a:rPr lang="en-US" b="0">
                <a:latin typeface="Times New Roman" pitchFamily="18" charset="0"/>
              </a:rPr>
              <a:t>  </a:t>
            </a:r>
          </a:p>
        </p:txBody>
      </p:sp>
      <p:sp>
        <p:nvSpPr>
          <p:cNvPr id="115718" name="Text Box 4"/>
          <p:cNvSpPr txBox="1">
            <a:spLocks noChangeArrowheads="1"/>
          </p:cNvSpPr>
          <p:nvPr/>
        </p:nvSpPr>
        <p:spPr bwMode="auto">
          <a:xfrm>
            <a:off x="0" y="1752600"/>
            <a:ext cx="209391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get IP </a:t>
            </a:r>
            <a:r>
              <a:rPr lang="en-US" sz="1800" b="0" i="1" err="1">
                <a:solidFill>
                  <a:srgbClr val="000099"/>
                </a:solidFill>
                <a:latin typeface="+mn-lt"/>
              </a:rPr>
              <a:t>addr</a:t>
            </a:r>
            <a:endParaRPr lang="en-US" sz="1800" b="0" i="1">
              <a:solidFill>
                <a:srgbClr val="000099"/>
              </a:solidFill>
              <a:latin typeface="+mn-lt"/>
            </a:endParaRP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port #, of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sender</a:t>
            </a:r>
          </a:p>
        </p:txBody>
      </p:sp>
      <p:sp>
        <p:nvSpPr>
          <p:cNvPr id="115719" name="Freeform 5"/>
          <p:cNvSpPr>
            <a:spLocks/>
          </p:cNvSpPr>
          <p:nvPr/>
        </p:nvSpPr>
        <p:spPr bwMode="auto">
          <a:xfrm>
            <a:off x="2057400" y="1795463"/>
            <a:ext cx="133350" cy="814387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0" name="Line 6"/>
          <p:cNvSpPr>
            <a:spLocks noChangeShapeType="1"/>
          </p:cNvSpPr>
          <p:nvPr/>
        </p:nvSpPr>
        <p:spPr bwMode="auto">
          <a:xfrm flipV="1">
            <a:off x="2214563" y="2533650"/>
            <a:ext cx="28575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1" name="Text Box 7"/>
          <p:cNvSpPr txBox="1">
            <a:spLocks noChangeArrowheads="1"/>
          </p:cNvSpPr>
          <p:nvPr/>
        </p:nvSpPr>
        <p:spPr bwMode="auto">
          <a:xfrm>
            <a:off x="838200" y="4495800"/>
            <a:ext cx="111286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write out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datagram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to socket</a:t>
            </a:r>
          </a:p>
        </p:txBody>
      </p:sp>
      <p:sp>
        <p:nvSpPr>
          <p:cNvPr id="115722" name="Freeform 8"/>
          <p:cNvSpPr>
            <a:spLocks/>
          </p:cNvSpPr>
          <p:nvPr/>
        </p:nvSpPr>
        <p:spPr bwMode="auto">
          <a:xfrm>
            <a:off x="1895475" y="4595813"/>
            <a:ext cx="161925" cy="819150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3" name="Line 9"/>
          <p:cNvSpPr>
            <a:spLocks noChangeShapeType="1"/>
          </p:cNvSpPr>
          <p:nvPr/>
        </p:nvSpPr>
        <p:spPr bwMode="auto">
          <a:xfrm flipV="1">
            <a:off x="2076450" y="4991100"/>
            <a:ext cx="333375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4" name="Text Box 10"/>
          <p:cNvSpPr txBox="1">
            <a:spLocks noChangeArrowheads="1"/>
          </p:cNvSpPr>
          <p:nvPr/>
        </p:nvSpPr>
        <p:spPr bwMode="auto">
          <a:xfrm>
            <a:off x="3228975" y="5632450"/>
            <a:ext cx="227395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end of while loop,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loop back and wait for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another datagram</a:t>
            </a:r>
          </a:p>
        </p:txBody>
      </p:sp>
      <p:sp>
        <p:nvSpPr>
          <p:cNvPr id="115725" name="Freeform 11"/>
          <p:cNvSpPr>
            <a:spLocks/>
          </p:cNvSpPr>
          <p:nvPr/>
        </p:nvSpPr>
        <p:spPr bwMode="auto">
          <a:xfrm rot="10784139">
            <a:off x="3209925" y="5622925"/>
            <a:ext cx="160338" cy="912813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6" name="Line 12"/>
          <p:cNvSpPr>
            <a:spLocks noChangeShapeType="1"/>
          </p:cNvSpPr>
          <p:nvPr/>
        </p:nvSpPr>
        <p:spPr bwMode="auto">
          <a:xfrm flipH="1" flipV="1">
            <a:off x="2562225" y="5295900"/>
            <a:ext cx="647700" cy="6048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7" name="Line 13"/>
          <p:cNvSpPr>
            <a:spLocks noChangeShapeType="1"/>
          </p:cNvSpPr>
          <p:nvPr/>
        </p:nvSpPr>
        <p:spPr bwMode="auto">
          <a:xfrm flipV="1">
            <a:off x="2205038" y="2095500"/>
            <a:ext cx="28575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8" name="Text Box 14"/>
          <p:cNvSpPr txBox="1">
            <a:spLocks noChangeArrowheads="1"/>
          </p:cNvSpPr>
          <p:nvPr/>
        </p:nvSpPr>
        <p:spPr bwMode="auto">
          <a:xfrm>
            <a:off x="228600" y="3657600"/>
            <a:ext cx="17547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create datagram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to send to client</a:t>
            </a:r>
          </a:p>
        </p:txBody>
      </p:sp>
      <p:sp>
        <p:nvSpPr>
          <p:cNvPr id="115729" name="Freeform 15"/>
          <p:cNvSpPr>
            <a:spLocks/>
          </p:cNvSpPr>
          <p:nvPr/>
        </p:nvSpPr>
        <p:spPr bwMode="auto">
          <a:xfrm>
            <a:off x="1933575" y="3757613"/>
            <a:ext cx="161925" cy="571500"/>
          </a:xfrm>
          <a:custGeom>
            <a:avLst/>
            <a:gdLst>
              <a:gd name="T0" fmla="*/ 0 w 78"/>
              <a:gd name="T1" fmla="*/ 0 h 342"/>
              <a:gd name="T2" fmla="*/ 78 w 78"/>
              <a:gd name="T3" fmla="*/ 0 h 342"/>
              <a:gd name="T4" fmla="*/ 78 w 78"/>
              <a:gd name="T5" fmla="*/ 342 h 342"/>
              <a:gd name="T6" fmla="*/ 6 w 78"/>
              <a:gd name="T7" fmla="*/ 34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30" name="Line 16"/>
          <p:cNvSpPr>
            <a:spLocks noChangeShapeType="1"/>
          </p:cNvSpPr>
          <p:nvPr/>
        </p:nvSpPr>
        <p:spPr bwMode="auto">
          <a:xfrm flipV="1">
            <a:off x="2114550" y="4019550"/>
            <a:ext cx="333375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3D209E5-7165-4078-A968-05538CD6A34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8" grpId="0"/>
      <p:bldP spid="115719" grpId="0" animBg="1"/>
      <p:bldP spid="115720" grpId="0" animBg="1"/>
      <p:bldP spid="115721" grpId="0"/>
      <p:bldP spid="115722" grpId="0" animBg="1"/>
      <p:bldP spid="115723" grpId="0" animBg="1"/>
      <p:bldP spid="115724" grpId="0"/>
      <p:bldP spid="115725" grpId="0" animBg="1"/>
      <p:bldP spid="115726" grpId="0" animBg="1"/>
      <p:bldP spid="115727" grpId="0" animBg="1"/>
      <p:bldP spid="115728" grpId="0"/>
      <p:bldP spid="115729" grpId="0" animBg="1"/>
      <p:bldP spid="1157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0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48" y="357166"/>
            <a:ext cx="7772400" cy="90328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C00000"/>
                </a:solidFill>
              </a:rPr>
              <a:t>Socket Programming with TCP</a:t>
            </a:r>
          </a:p>
        </p:txBody>
      </p:sp>
      <p:sp>
        <p:nvSpPr>
          <p:cNvPr id="2498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6652" y="1087431"/>
            <a:ext cx="3810000" cy="4648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CC0000"/>
                </a:solidFill>
                <a:ea typeface="ＭＳ Ｐゴシック" pitchFamily="34" charset="-128"/>
              </a:rPr>
              <a:t>client must contact server</a:t>
            </a:r>
          </a:p>
          <a:p>
            <a:r>
              <a:rPr lang="en-US" sz="2200">
                <a:ea typeface="ＭＳ Ｐゴシック" pitchFamily="34" charset="-128"/>
              </a:rPr>
              <a:t>server process must first be running</a:t>
            </a:r>
          </a:p>
          <a:p>
            <a:r>
              <a:rPr lang="en-US" sz="2200">
                <a:ea typeface="ＭＳ Ｐゴシック" pitchFamily="34" charset="-128"/>
              </a:rPr>
              <a:t>server must have created socket (door) that welcomes client</a:t>
            </a:r>
            <a:r>
              <a:rPr lang="ja-JP" altLang="en-US" sz="2200">
                <a:ea typeface="ＭＳ Ｐゴシック" pitchFamily="34" charset="-128"/>
              </a:rPr>
              <a:t>’</a:t>
            </a:r>
            <a:r>
              <a:rPr lang="en-US" altLang="ja-JP" sz="2200">
                <a:ea typeface="ＭＳ Ｐゴシック" pitchFamily="34" charset="-128"/>
              </a:rPr>
              <a:t>s contact (</a:t>
            </a:r>
            <a:r>
              <a:rPr lang="en-US" altLang="ja-JP" sz="2200" err="1">
                <a:ea typeface="ＭＳ Ｐゴシック" pitchFamily="34" charset="-128"/>
              </a:rPr>
              <a:t>ServerSocket</a:t>
            </a:r>
            <a:r>
              <a:rPr lang="en-US" altLang="ja-JP" sz="2200">
                <a:ea typeface="ＭＳ Ｐゴシック" pitchFamily="34" charset="-128"/>
              </a:rPr>
              <a:t> class)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400">
                <a:solidFill>
                  <a:srgbClr val="CC0000"/>
                </a:solidFill>
                <a:ea typeface="ＭＳ Ｐゴシック" pitchFamily="34" charset="-128"/>
              </a:rPr>
              <a:t>client contacts server by:</a:t>
            </a:r>
          </a:p>
          <a:p>
            <a:r>
              <a:rPr lang="en-US" sz="2200">
                <a:ea typeface="ＭＳ Ｐゴシック" pitchFamily="34" charset="-128"/>
              </a:rPr>
              <a:t>Creating TCP socket, specifying IP address, port number of server process</a:t>
            </a:r>
          </a:p>
          <a:p>
            <a:r>
              <a:rPr lang="en-US" sz="2200" i="1">
                <a:solidFill>
                  <a:srgbClr val="CC0000"/>
                </a:solidFill>
                <a:ea typeface="ＭＳ Ｐゴシック" pitchFamily="34" charset="-128"/>
              </a:rPr>
              <a:t>when client creates socket:</a:t>
            </a:r>
            <a:r>
              <a:rPr lang="en-US" sz="2200">
                <a:ea typeface="ＭＳ Ｐゴシック" pitchFamily="34" charset="-128"/>
              </a:rPr>
              <a:t> client TCP establishes connection to server TCP</a:t>
            </a:r>
          </a:p>
          <a:p>
            <a:endParaRPr lang="en-US" sz="2000">
              <a:ea typeface="ＭＳ Ｐゴシック" pitchFamily="34" charset="-128"/>
            </a:endParaRPr>
          </a:p>
        </p:txBody>
      </p:sp>
      <p:sp>
        <p:nvSpPr>
          <p:cNvPr id="24986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77218" y="1087431"/>
            <a:ext cx="3962400" cy="4502492"/>
          </a:xfrm>
        </p:spPr>
        <p:txBody>
          <a:bodyPr>
            <a:noAutofit/>
          </a:bodyPr>
          <a:lstStyle/>
          <a:p>
            <a:r>
              <a:rPr lang="en-US" sz="2000">
                <a:ea typeface="ＭＳ Ｐゴシック" pitchFamily="34" charset="-128"/>
              </a:rPr>
              <a:t>when contacted by client, </a:t>
            </a:r>
            <a:r>
              <a:rPr lang="en-US" sz="2000" i="1">
                <a:solidFill>
                  <a:srgbClr val="CC0000"/>
                </a:solidFill>
                <a:ea typeface="ＭＳ Ｐゴシック" pitchFamily="34" charset="-128"/>
              </a:rPr>
              <a:t>server TCP creates new socket (Socket class)</a:t>
            </a:r>
            <a:r>
              <a:rPr lang="en-US" sz="2000">
                <a:ea typeface="ＭＳ Ｐゴシック" pitchFamily="34" charset="-128"/>
              </a:rPr>
              <a:t> for server process to communicate with that particular client</a:t>
            </a:r>
          </a:p>
          <a:p>
            <a:pPr lvl="1"/>
            <a:r>
              <a:rPr lang="en-US" sz="2000">
                <a:ea typeface="ＭＳ Ｐゴシック" pitchFamily="34" charset="-128"/>
              </a:rPr>
              <a:t>allows server to talk with multiple clients</a:t>
            </a:r>
          </a:p>
          <a:p>
            <a:pPr lvl="1"/>
            <a:r>
              <a:rPr lang="en-US" sz="2000">
                <a:ea typeface="ＭＳ Ｐゴシック" pitchFamily="34" charset="-128"/>
              </a:rPr>
              <a:t>source port numbers used to distinguish clients (more in Chap 3)</a:t>
            </a:r>
          </a:p>
          <a:p>
            <a:pPr lvl="1"/>
            <a:r>
              <a:rPr lang="en-US" sz="2000"/>
              <a:t>new socket is used to exchange data with the client using input and output streams</a:t>
            </a:r>
            <a:endParaRPr lang="en-US" sz="2000" i="1">
              <a:ea typeface="ＭＳ Ｐゴシック" pitchFamily="34" charset="-128"/>
            </a:endParaRPr>
          </a:p>
        </p:txBody>
      </p:sp>
      <p:sp>
        <p:nvSpPr>
          <p:cNvPr id="249863" name="Text Box 6"/>
          <p:cNvSpPr txBox="1">
            <a:spLocks noChangeArrowheads="1"/>
          </p:cNvSpPr>
          <p:nvPr/>
        </p:nvSpPr>
        <p:spPr bwMode="auto">
          <a:xfrm>
            <a:off x="3224853" y="5969229"/>
            <a:ext cx="3328347" cy="879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000" b="0">
                <a:solidFill>
                  <a:srgbClr val="000099"/>
                </a:solidFill>
                <a:latin typeface="+mn-lt"/>
              </a:rPr>
              <a:t>TCP provides reliable, in-order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000" b="0">
                <a:solidFill>
                  <a:srgbClr val="000099"/>
                </a:solidFill>
                <a:latin typeface="+mn-lt"/>
              </a:rPr>
              <a:t>byte-stream transfer (</a:t>
            </a:r>
            <a:r>
              <a:rPr lang="ja-JP" altLang="en-US" sz="2000" b="0">
                <a:solidFill>
                  <a:srgbClr val="000099"/>
                </a:solidFill>
                <a:latin typeface="+mn-lt"/>
              </a:rPr>
              <a:t>“</a:t>
            </a:r>
            <a:r>
              <a:rPr lang="en-US" altLang="ja-JP" sz="2000" b="0">
                <a:solidFill>
                  <a:srgbClr val="000099"/>
                </a:solidFill>
                <a:latin typeface="+mn-lt"/>
              </a:rPr>
              <a:t>pipe</a:t>
            </a:r>
            <a:r>
              <a:rPr lang="ja-JP" altLang="en-US" sz="2000" b="0">
                <a:solidFill>
                  <a:srgbClr val="000099"/>
                </a:solidFill>
                <a:latin typeface="+mn-lt"/>
              </a:rPr>
              <a:t>”</a:t>
            </a:r>
            <a:r>
              <a:rPr lang="en-US" altLang="ja-JP" sz="2000" b="0">
                <a:solidFill>
                  <a:srgbClr val="000099"/>
                </a:solidFill>
                <a:latin typeface="+mn-lt"/>
              </a:rPr>
              <a:t>)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000" b="0">
                <a:solidFill>
                  <a:srgbClr val="000099"/>
                </a:solidFill>
                <a:latin typeface="+mn-lt"/>
              </a:rPr>
              <a:t>between client and server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79750" y="4524382"/>
            <a:ext cx="3040062" cy="1449389"/>
            <a:chOff x="-970" y="3825"/>
            <a:chExt cx="1915" cy="913"/>
          </a:xfrm>
        </p:grpSpPr>
        <p:sp>
          <p:nvSpPr>
            <p:cNvPr id="249865" name="Rectangle 9"/>
            <p:cNvSpPr>
              <a:spLocks noChangeArrowheads="1"/>
            </p:cNvSpPr>
            <p:nvPr/>
          </p:nvSpPr>
          <p:spPr bwMode="auto">
            <a:xfrm>
              <a:off x="96" y="3825"/>
              <a:ext cx="116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buClr>
                  <a:srgbClr val="3333CC"/>
                </a:buClr>
              </a:pPr>
              <a:endParaRPr lang="en-US" sz="2400" b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49866" name="Text Box 10"/>
            <p:cNvSpPr txBox="1">
              <a:spLocks noChangeArrowheads="1"/>
            </p:cNvSpPr>
            <p:nvPr/>
          </p:nvSpPr>
          <p:spPr bwMode="auto">
            <a:xfrm>
              <a:off x="-970" y="4447"/>
              <a:ext cx="191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400" b="0">
                  <a:solidFill>
                    <a:srgbClr val="CC0000"/>
                  </a:solidFill>
                  <a:latin typeface="+mn-lt"/>
                </a:rPr>
                <a:t>application viewpoint:</a:t>
              </a:r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9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9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9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9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9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9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9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9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9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9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9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9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9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9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9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9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98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98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98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98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1" grpId="0" build="p"/>
      <p:bldP spid="249862" grpId="0" build="p"/>
      <p:bldP spid="2498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4E2A-D188-4C8C-AEA2-C17DA9D70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TCP Sockets based client-server programming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A28720-29F1-47F7-871C-C93B11725F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75656" y="2060848"/>
            <a:ext cx="6552728" cy="324036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6DAFB7-27C2-4C50-B304-E354B89F6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F5A1C-C4E5-451F-BEB1-F3E289DCD564}"/>
              </a:ext>
            </a:extLst>
          </p:cNvPr>
          <p:cNvSpPr txBox="1"/>
          <p:nvPr/>
        </p:nvSpPr>
        <p:spPr>
          <a:xfrm>
            <a:off x="4355976" y="5959174"/>
            <a:ext cx="4572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1">
                <a:solidFill>
                  <a:schemeClr val="bg1">
                    <a:lumMod val="50000"/>
                  </a:schemeClr>
                </a:solidFill>
                <a:latin typeface="+mn-lt"/>
              </a:rPr>
              <a:t>Reference Book: </a:t>
            </a:r>
          </a:p>
          <a:p>
            <a:r>
              <a:rPr lang="en-US" sz="1200" b="0" i="1">
                <a:solidFill>
                  <a:schemeClr val="bg1">
                    <a:lumMod val="50000"/>
                  </a:schemeClr>
                </a:solidFill>
                <a:latin typeface="+mn-lt"/>
              </a:rPr>
              <a:t>Object-Oriented Programming with Java by Rajkumar </a:t>
            </a:r>
            <a:r>
              <a:rPr lang="en-US" sz="1200" b="0" i="1" err="1">
                <a:solidFill>
                  <a:schemeClr val="bg1">
                    <a:lumMod val="50000"/>
                  </a:schemeClr>
                </a:solidFill>
                <a:latin typeface="+mn-lt"/>
              </a:rPr>
              <a:t>Buyya</a:t>
            </a:r>
            <a:r>
              <a:rPr lang="en-US" sz="1200" b="0" i="1">
                <a:solidFill>
                  <a:schemeClr val="bg1">
                    <a:lumMod val="50000"/>
                  </a:schemeClr>
                </a:solidFill>
                <a:latin typeface="+mn-lt"/>
              </a:rPr>
              <a:t>, S </a:t>
            </a:r>
            <a:r>
              <a:rPr lang="en-US" sz="1200" b="0" i="1" err="1">
                <a:solidFill>
                  <a:schemeClr val="bg1">
                    <a:lumMod val="50000"/>
                  </a:schemeClr>
                </a:solidFill>
                <a:latin typeface="+mn-lt"/>
              </a:rPr>
              <a:t>Thamarai</a:t>
            </a:r>
            <a:r>
              <a:rPr lang="en-US" sz="1200" b="0" i="1">
                <a:solidFill>
                  <a:schemeClr val="bg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1200" b="0" i="1" err="1">
                <a:solidFill>
                  <a:schemeClr val="bg1">
                    <a:lumMod val="50000"/>
                  </a:schemeClr>
                </a:solidFill>
                <a:latin typeface="+mn-lt"/>
              </a:rPr>
              <a:t>Selvi</a:t>
            </a:r>
            <a:r>
              <a:rPr lang="en-US" sz="1200" b="0" i="1">
                <a:solidFill>
                  <a:schemeClr val="bg1">
                    <a:lumMod val="50000"/>
                  </a:schemeClr>
                </a:solidFill>
                <a:latin typeface="+mn-lt"/>
              </a:rPr>
              <a:t>, </a:t>
            </a:r>
            <a:r>
              <a:rPr lang="en-US" sz="1200" b="0" i="1" err="1">
                <a:solidFill>
                  <a:schemeClr val="bg1">
                    <a:lumMod val="50000"/>
                  </a:schemeClr>
                </a:solidFill>
                <a:latin typeface="+mn-lt"/>
              </a:rPr>
              <a:t>Xingchen</a:t>
            </a:r>
            <a:r>
              <a:rPr lang="en-US" sz="1200" b="0" i="1">
                <a:solidFill>
                  <a:schemeClr val="bg1">
                    <a:lumMod val="50000"/>
                  </a:schemeClr>
                </a:solidFill>
                <a:latin typeface="+mn-lt"/>
              </a:rPr>
              <a:t> Chu</a:t>
            </a:r>
          </a:p>
        </p:txBody>
      </p:sp>
    </p:spTree>
    <p:extLst>
      <p:ext uri="{BB962C8B-B14F-4D97-AF65-F5344CB8AC3E}">
        <p14:creationId xmlns:p14="http://schemas.microsoft.com/office/powerpoint/2010/main" val="1894161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57166"/>
            <a:ext cx="7772400" cy="94773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C00000"/>
                </a:solidFill>
              </a:rPr>
              <a:t>Client/server Socket Interaction: TCP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77948" y="3355954"/>
            <a:ext cx="2212976" cy="990600"/>
            <a:chOff x="827" y="2027"/>
            <a:chExt cx="1394" cy="624"/>
          </a:xfrm>
        </p:grpSpPr>
        <p:sp>
          <p:nvSpPr>
            <p:cNvPr id="250921" name="Text Box 4"/>
            <p:cNvSpPr txBox="1">
              <a:spLocks noChangeArrowheads="1"/>
            </p:cNvSpPr>
            <p:nvPr/>
          </p:nvSpPr>
          <p:spPr bwMode="auto">
            <a:xfrm>
              <a:off x="827" y="2027"/>
              <a:ext cx="115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000000"/>
                  </a:solidFill>
                  <a:latin typeface="+mn-lt"/>
                </a:rPr>
                <a:t>wait for incoming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000000"/>
                  </a:solidFill>
                  <a:latin typeface="+mn-lt"/>
                </a:rPr>
                <a:t>connection request</a:t>
              </a:r>
              <a:endParaRPr lang="en-US" sz="2800" b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50922" name="Text Box 5"/>
            <p:cNvSpPr txBox="1">
              <a:spLocks noChangeArrowheads="1"/>
            </p:cNvSpPr>
            <p:nvPr/>
          </p:nvSpPr>
          <p:spPr bwMode="auto">
            <a:xfrm>
              <a:off x="828" y="2283"/>
              <a:ext cx="1393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 err="1">
                  <a:solidFill>
                    <a:srgbClr val="CC0000"/>
                  </a:solidFill>
                  <a:latin typeface="+mn-lt"/>
                </a:rPr>
                <a:t>connectionSocket</a:t>
              </a:r>
              <a:r>
                <a:rPr lang="en-US" sz="1600" b="0">
                  <a:solidFill>
                    <a:srgbClr val="CC0000"/>
                  </a:solidFill>
                  <a:latin typeface="+mn-lt"/>
                </a:rPr>
                <a:t> =</a:t>
              </a:r>
            </a:p>
            <a:p>
              <a:r>
                <a:rPr lang="en-US" sz="1600" b="0" err="1">
                  <a:solidFill>
                    <a:srgbClr val="CC0000"/>
                  </a:solidFill>
                  <a:latin typeface="+mn-lt"/>
                </a:rPr>
                <a:t>welcomeSocket.accept</a:t>
              </a:r>
              <a:r>
                <a:rPr lang="en-US" sz="1600" b="0">
                  <a:solidFill>
                    <a:srgbClr val="CC0000"/>
                  </a:solidFill>
                  <a:latin typeface="+mn-lt"/>
                </a:rPr>
                <a:t>()</a:t>
              </a:r>
              <a:endParaRPr lang="en-US" sz="2800" b="0">
                <a:solidFill>
                  <a:srgbClr val="CC0000"/>
                </a:solidFill>
                <a:latin typeface="+mn-lt"/>
              </a:endParaRP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558898" y="2116117"/>
            <a:ext cx="3054349" cy="1317625"/>
            <a:chOff x="821" y="1246"/>
            <a:chExt cx="1924" cy="830"/>
          </a:xfrm>
        </p:grpSpPr>
        <p:grpSp>
          <p:nvGrpSpPr>
            <p:cNvPr id="4" name="Group 7"/>
            <p:cNvGrpSpPr>
              <a:grpSpLocks/>
            </p:cNvGrpSpPr>
            <p:nvPr/>
          </p:nvGrpSpPr>
          <p:grpSpPr bwMode="auto">
            <a:xfrm>
              <a:off x="821" y="1246"/>
              <a:ext cx="1924" cy="744"/>
              <a:chOff x="329" y="1270"/>
              <a:chExt cx="1924" cy="744"/>
            </a:xfrm>
          </p:grpSpPr>
          <p:sp>
            <p:nvSpPr>
              <p:cNvPr id="250919" name="Text Box 8"/>
              <p:cNvSpPr txBox="1">
                <a:spLocks noChangeArrowheads="1"/>
              </p:cNvSpPr>
              <p:nvPr/>
            </p:nvSpPr>
            <p:spPr bwMode="auto">
              <a:xfrm>
                <a:off x="329" y="1270"/>
                <a:ext cx="1213" cy="5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b="0">
                    <a:solidFill>
                      <a:srgbClr val="000000"/>
                    </a:solidFill>
                    <a:latin typeface="+mn-lt"/>
                  </a:rPr>
                  <a:t>create socket,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b="0">
                    <a:solidFill>
                      <a:srgbClr val="000000"/>
                    </a:solidFill>
                    <a:latin typeface="+mn-lt"/>
                  </a:rPr>
                  <a:t>port=x, for incoming request:</a:t>
                </a:r>
                <a:endParaRPr lang="en-US" sz="2800" b="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50920" name="Text Box 9"/>
              <p:cNvSpPr txBox="1">
                <a:spLocks noChangeArrowheads="1"/>
              </p:cNvSpPr>
              <p:nvPr/>
            </p:nvSpPr>
            <p:spPr bwMode="auto">
              <a:xfrm>
                <a:off x="772" y="1684"/>
                <a:ext cx="148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sz="1400" b="0" err="1">
                    <a:solidFill>
                      <a:srgbClr val="CC0000"/>
                    </a:solidFill>
                    <a:latin typeface="+mn-lt"/>
                  </a:rPr>
                  <a:t>ServerSocket</a:t>
                </a:r>
                <a:r>
                  <a:rPr lang="en-US" sz="1400" b="0">
                    <a:solidFill>
                      <a:srgbClr val="CC0000"/>
                    </a:solidFill>
                    <a:latin typeface="+mn-lt"/>
                  </a:rPr>
                  <a:t> </a:t>
                </a:r>
                <a:r>
                  <a:rPr lang="en-US" sz="1400" b="0" err="1">
                    <a:solidFill>
                      <a:srgbClr val="CC0000"/>
                    </a:solidFill>
                    <a:latin typeface="+mn-lt"/>
                  </a:rPr>
                  <a:t>welcomeSocket</a:t>
                </a:r>
                <a:r>
                  <a:rPr lang="en-US" sz="1400" b="0">
                    <a:solidFill>
                      <a:srgbClr val="CC0000"/>
                    </a:solidFill>
                    <a:latin typeface="+mn-lt"/>
                  </a:rPr>
                  <a:t> = new </a:t>
                </a:r>
                <a:r>
                  <a:rPr lang="en-US" sz="1400" b="0" err="1">
                    <a:solidFill>
                      <a:srgbClr val="CC0000"/>
                    </a:solidFill>
                    <a:latin typeface="+mn-lt"/>
                  </a:rPr>
                  <a:t>ServerSocket</a:t>
                </a:r>
                <a:r>
                  <a:rPr lang="en-US" sz="1400" b="0">
                    <a:solidFill>
                      <a:srgbClr val="CC0000"/>
                    </a:solidFill>
                    <a:latin typeface="+mn-lt"/>
                  </a:rPr>
                  <a:t>(6789); </a:t>
                </a:r>
                <a:endParaRPr lang="en-US" sz="2400" b="0">
                  <a:solidFill>
                    <a:srgbClr val="CC0000"/>
                  </a:solidFill>
                  <a:latin typeface="+mn-lt"/>
                </a:endParaRPr>
              </a:p>
            </p:txBody>
          </p:sp>
        </p:grpSp>
        <p:sp>
          <p:nvSpPr>
            <p:cNvPr id="250918" name="Line 10"/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sz="3600" b="0">
                <a:latin typeface="+mn-lt"/>
              </a:endParaRPr>
            </a:p>
          </p:txBody>
        </p:sp>
      </p:grp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5356198" y="3363891"/>
            <a:ext cx="2357437" cy="758824"/>
            <a:chOff x="3333" y="1204"/>
            <a:chExt cx="1485" cy="478"/>
          </a:xfrm>
        </p:grpSpPr>
        <p:sp>
          <p:nvSpPr>
            <p:cNvPr id="250915" name="Text Box 12"/>
            <p:cNvSpPr txBox="1">
              <a:spLocks noChangeArrowheads="1"/>
            </p:cNvSpPr>
            <p:nvPr/>
          </p:nvSpPr>
          <p:spPr bwMode="auto">
            <a:xfrm>
              <a:off x="3335" y="1204"/>
              <a:ext cx="146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000000"/>
                  </a:solidFill>
                  <a:latin typeface="+mn-lt"/>
                </a:rPr>
                <a:t>create socket,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000000"/>
                  </a:solidFill>
                  <a:latin typeface="+mn-lt"/>
                </a:rPr>
                <a:t>connect to hostid, port=x</a:t>
              </a:r>
              <a:endParaRPr lang="en-US" sz="2800" b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50916" name="Text Box 13"/>
            <p:cNvSpPr txBox="1">
              <a:spLocks noChangeArrowheads="1"/>
            </p:cNvSpPr>
            <p:nvPr/>
          </p:nvSpPr>
          <p:spPr bwMode="auto">
            <a:xfrm>
              <a:off x="3333" y="1469"/>
              <a:ext cx="148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CC0000"/>
                  </a:solidFill>
                  <a:latin typeface="+mn-lt"/>
                </a:rPr>
                <a:t>clientSocket = socket()</a:t>
              </a:r>
              <a:endParaRPr lang="en-US" sz="2800" b="0">
                <a:solidFill>
                  <a:srgbClr val="CC0000"/>
                </a:solidFill>
                <a:latin typeface="+mn-lt"/>
              </a:endParaRPr>
            </a:p>
          </p:txBody>
        </p:sp>
      </p:grpSp>
      <p:sp>
        <p:nvSpPr>
          <p:cNvPr id="250887" name="Text Box 22"/>
          <p:cNvSpPr txBox="1">
            <a:spLocks noChangeArrowheads="1"/>
          </p:cNvSpPr>
          <p:nvPr/>
        </p:nvSpPr>
        <p:spPr bwMode="auto">
          <a:xfrm>
            <a:off x="946123" y="1479529"/>
            <a:ext cx="34319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0">
                <a:solidFill>
                  <a:srgbClr val="000000"/>
                </a:solidFill>
                <a:latin typeface="+mn-lt"/>
              </a:rPr>
              <a:t>server (running on </a:t>
            </a:r>
            <a:r>
              <a:rPr lang="en-US" sz="2400" b="0" err="1">
                <a:solidFill>
                  <a:srgbClr val="000000"/>
                </a:solidFill>
                <a:latin typeface="+mn-lt"/>
              </a:rPr>
              <a:t>hostid</a:t>
            </a:r>
            <a:r>
              <a:rPr lang="en-US" sz="2400" b="0">
                <a:solidFill>
                  <a:srgbClr val="000000"/>
                </a:solidFill>
                <a:latin typeface="+mn-lt"/>
              </a:rPr>
              <a:t>)</a:t>
            </a:r>
          </a:p>
        </p:txBody>
      </p:sp>
      <p:sp>
        <p:nvSpPr>
          <p:cNvPr id="250888" name="Text Box 23"/>
          <p:cNvSpPr txBox="1">
            <a:spLocks noChangeArrowheads="1"/>
          </p:cNvSpPr>
          <p:nvPr/>
        </p:nvSpPr>
        <p:spPr bwMode="auto">
          <a:xfrm>
            <a:off x="5632423" y="1474767"/>
            <a:ext cx="8887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b="0">
                <a:solidFill>
                  <a:srgbClr val="000000"/>
                </a:solidFill>
                <a:latin typeface="+mn-lt"/>
              </a:rPr>
              <a:t>client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3198785" y="4148117"/>
            <a:ext cx="4141788" cy="1371600"/>
            <a:chOff x="1848" y="2526"/>
            <a:chExt cx="2609" cy="864"/>
          </a:xfrm>
        </p:grpSpPr>
        <p:sp>
          <p:nvSpPr>
            <p:cNvPr id="250910" name="Line 25"/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sz="3600" b="0">
                <a:latin typeface="+mn-lt"/>
              </a:endParaRPr>
            </a:p>
          </p:txBody>
        </p:sp>
        <p:grpSp>
          <p:nvGrpSpPr>
            <p:cNvPr id="7" name="Group 26"/>
            <p:cNvGrpSpPr>
              <a:grpSpLocks/>
            </p:cNvGrpSpPr>
            <p:nvPr/>
          </p:nvGrpSpPr>
          <p:grpSpPr bwMode="auto">
            <a:xfrm>
              <a:off x="1848" y="2526"/>
              <a:ext cx="2609" cy="517"/>
              <a:chOff x="1848" y="2526"/>
              <a:chExt cx="2609" cy="517"/>
            </a:xfrm>
          </p:grpSpPr>
          <p:sp>
            <p:nvSpPr>
              <p:cNvPr id="250912" name="Text Box 27"/>
              <p:cNvSpPr txBox="1">
                <a:spLocks noChangeArrowheads="1"/>
              </p:cNvSpPr>
              <p:nvPr/>
            </p:nvSpPr>
            <p:spPr bwMode="auto">
              <a:xfrm>
                <a:off x="3335" y="2675"/>
                <a:ext cx="1122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b="0">
                    <a:solidFill>
                      <a:srgbClr val="000000"/>
                    </a:solidFill>
                    <a:latin typeface="+mn-lt"/>
                  </a:rPr>
                  <a:t>send request using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b="0" err="1">
                    <a:solidFill>
                      <a:srgbClr val="CC0000"/>
                    </a:solidFill>
                    <a:latin typeface="+mn-lt"/>
                  </a:rPr>
                  <a:t>clientSocket</a:t>
                </a:r>
                <a:endParaRPr lang="en-US" sz="2800" b="0">
                  <a:solidFill>
                    <a:srgbClr val="CC0000"/>
                  </a:solidFill>
                  <a:latin typeface="+mn-lt"/>
                </a:endParaRPr>
              </a:p>
            </p:txBody>
          </p:sp>
          <p:sp>
            <p:nvSpPr>
              <p:cNvPr id="250913" name="Line 28"/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 sz="3600" b="0">
                  <a:latin typeface="+mn-lt"/>
                </a:endParaRPr>
              </a:p>
            </p:txBody>
          </p:sp>
          <p:sp>
            <p:nvSpPr>
              <p:cNvPr id="250914" name="Line 29"/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spAutoFit/>
              </a:bodyPr>
              <a:lstStyle/>
              <a:p>
                <a:endParaRPr lang="en-US" sz="3600" b="0">
                  <a:latin typeface="+mn-lt"/>
                </a:endParaRPr>
              </a:p>
            </p:txBody>
          </p:sp>
        </p:grp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1568423" y="4243367"/>
            <a:ext cx="4097337" cy="1554162"/>
            <a:chOff x="821" y="2586"/>
            <a:chExt cx="2581" cy="979"/>
          </a:xfrm>
        </p:grpSpPr>
        <p:sp>
          <p:nvSpPr>
            <p:cNvPr id="250905" name="Text Box 31"/>
            <p:cNvSpPr txBox="1">
              <a:spLocks noChangeArrowheads="1"/>
            </p:cNvSpPr>
            <p:nvPr/>
          </p:nvSpPr>
          <p:spPr bwMode="auto">
            <a:xfrm>
              <a:off x="821" y="2789"/>
              <a:ext cx="1087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000000"/>
                  </a:solidFill>
                  <a:latin typeface="+mn-lt"/>
                </a:rPr>
                <a:t>read request from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CC0000"/>
                  </a:solidFill>
                  <a:latin typeface="+mn-lt"/>
                </a:rPr>
                <a:t>connectionSocke</a:t>
              </a:r>
              <a:r>
                <a:rPr lang="en-US" sz="1600" b="0">
                  <a:solidFill>
                    <a:srgbClr val="FF0000"/>
                  </a:solidFill>
                  <a:latin typeface="+mn-lt"/>
                </a:rPr>
                <a:t>t</a:t>
              </a:r>
              <a:endParaRPr lang="en-US" sz="2800" b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50906" name="Text Box 32"/>
            <p:cNvSpPr txBox="1">
              <a:spLocks noChangeArrowheads="1"/>
            </p:cNvSpPr>
            <p:nvPr/>
          </p:nvSpPr>
          <p:spPr bwMode="auto">
            <a:xfrm>
              <a:off x="851" y="3197"/>
              <a:ext cx="1065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000000"/>
                  </a:solidFill>
                  <a:latin typeface="+mn-lt"/>
                </a:rPr>
                <a:t>write reply to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CC0000"/>
                  </a:solidFill>
                  <a:latin typeface="+mn-lt"/>
                </a:rPr>
                <a:t>connectionSocket</a:t>
              </a:r>
              <a:endParaRPr lang="en-US" sz="2800" b="0">
                <a:solidFill>
                  <a:srgbClr val="CC0000"/>
                </a:solidFill>
                <a:latin typeface="+mn-lt"/>
              </a:endParaRPr>
            </a:p>
          </p:txBody>
        </p:sp>
        <p:sp>
          <p:nvSpPr>
            <p:cNvPr id="250907" name="Line 33"/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sz="3600" b="0">
                <a:latin typeface="+mn-lt"/>
              </a:endParaRPr>
            </a:p>
          </p:txBody>
        </p:sp>
        <p:sp>
          <p:nvSpPr>
            <p:cNvPr id="250908" name="Line 34"/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sz="3600" b="0">
                <a:latin typeface="+mn-lt"/>
              </a:endParaRPr>
            </a:p>
          </p:txBody>
        </p:sp>
        <p:sp>
          <p:nvSpPr>
            <p:cNvPr id="250909" name="Line 35"/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sz="3600" b="0">
                <a:latin typeface="+mn-lt"/>
              </a:endParaRPr>
            </a:p>
          </p:txBody>
        </p:sp>
      </p:grpSp>
      <p:sp>
        <p:nvSpPr>
          <p:cNvPr id="250892" name="Line 49"/>
          <p:cNvSpPr>
            <a:spLocks noChangeShapeType="1"/>
          </p:cNvSpPr>
          <p:nvPr/>
        </p:nvSpPr>
        <p:spPr bwMode="auto">
          <a:xfrm>
            <a:off x="1025498" y="1928792"/>
            <a:ext cx="3341687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9" name="Group 52"/>
          <p:cNvGrpSpPr>
            <a:grpSpLocks/>
          </p:cNvGrpSpPr>
          <p:nvPr/>
        </p:nvGrpSpPr>
        <p:grpSpPr bwMode="auto">
          <a:xfrm>
            <a:off x="3187673" y="3443267"/>
            <a:ext cx="2200275" cy="619125"/>
            <a:chOff x="3043" y="1189"/>
            <a:chExt cx="1386" cy="390"/>
          </a:xfrm>
        </p:grpSpPr>
        <p:sp>
          <p:nvSpPr>
            <p:cNvPr id="250903" name="Line 37"/>
            <p:cNvSpPr>
              <a:spLocks noChangeShapeType="1"/>
            </p:cNvSpPr>
            <p:nvPr/>
          </p:nvSpPr>
          <p:spPr bwMode="auto">
            <a:xfrm>
              <a:off x="3043" y="1372"/>
              <a:ext cx="138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 type="triangle" w="med" len="med"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 sz="3600" b="0">
                <a:latin typeface="+mn-lt"/>
              </a:endParaRPr>
            </a:p>
          </p:txBody>
        </p:sp>
        <p:sp>
          <p:nvSpPr>
            <p:cNvPr id="250904" name="Text Box 38"/>
            <p:cNvSpPr txBox="1">
              <a:spLocks noChangeArrowheads="1"/>
            </p:cNvSpPr>
            <p:nvPr/>
          </p:nvSpPr>
          <p:spPr bwMode="auto">
            <a:xfrm>
              <a:off x="3106" y="1189"/>
              <a:ext cx="1140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000" b="0">
                  <a:solidFill>
                    <a:srgbClr val="CC0000"/>
                  </a:solidFill>
                  <a:latin typeface="+mn-lt"/>
                </a:rPr>
                <a:t>TCP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>
                  <a:solidFill>
                    <a:srgbClr val="CC0000"/>
                  </a:solidFill>
                  <a:latin typeface="+mn-lt"/>
                </a:rPr>
                <a:t>connection setup</a:t>
              </a:r>
              <a:endParaRPr lang="en-US" sz="2400" b="0">
                <a:solidFill>
                  <a:srgbClr val="CC0000"/>
                </a:solidFill>
                <a:latin typeface="+mn-lt"/>
              </a:endParaRPr>
            </a:p>
          </p:txBody>
        </p:sp>
      </p:grpSp>
      <p:sp>
        <p:nvSpPr>
          <p:cNvPr id="250894" name="Line 50"/>
          <p:cNvSpPr>
            <a:spLocks noChangeShapeType="1"/>
          </p:cNvSpPr>
          <p:nvPr/>
        </p:nvSpPr>
        <p:spPr bwMode="auto">
          <a:xfrm>
            <a:off x="5765773" y="1939904"/>
            <a:ext cx="6762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10" name="Group 53"/>
          <p:cNvGrpSpPr>
            <a:grpSpLocks/>
          </p:cNvGrpSpPr>
          <p:nvPr/>
        </p:nvGrpSpPr>
        <p:grpSpPr bwMode="auto">
          <a:xfrm>
            <a:off x="1519210" y="4591029"/>
            <a:ext cx="5575301" cy="2017713"/>
            <a:chOff x="832" y="2713"/>
            <a:chExt cx="3512" cy="1271"/>
          </a:xfrm>
        </p:grpSpPr>
        <p:sp>
          <p:nvSpPr>
            <p:cNvPr id="250896" name="Text Box 15"/>
            <p:cNvSpPr txBox="1">
              <a:spLocks noChangeArrowheads="1"/>
            </p:cNvSpPr>
            <p:nvPr/>
          </p:nvSpPr>
          <p:spPr bwMode="auto">
            <a:xfrm>
              <a:off x="867" y="3514"/>
              <a:ext cx="1065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000000"/>
                  </a:solidFill>
                  <a:latin typeface="+mn-lt"/>
                </a:rPr>
                <a:t>close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0">
                  <a:solidFill>
                    <a:srgbClr val="CC0000"/>
                  </a:solidFill>
                  <a:latin typeface="+mn-lt"/>
                </a:rPr>
                <a:t>connectionSocket</a:t>
              </a:r>
              <a:endParaRPr lang="en-US" sz="2800" b="0">
                <a:solidFill>
                  <a:srgbClr val="CC0000"/>
                </a:solidFill>
                <a:latin typeface="+mn-lt"/>
              </a:endParaRPr>
            </a:p>
          </p:txBody>
        </p:sp>
        <p:sp>
          <p:nvSpPr>
            <p:cNvPr id="250897" name="Line 16"/>
            <p:cNvSpPr>
              <a:spLocks noChangeShapeType="1"/>
            </p:cNvSpPr>
            <p:nvPr/>
          </p:nvSpPr>
          <p:spPr bwMode="auto">
            <a:xfrm>
              <a:off x="1318" y="3437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sz="3600" b="0">
                <a:latin typeface="+mn-lt"/>
              </a:endParaRPr>
            </a:p>
          </p:txBody>
        </p:sp>
        <p:sp>
          <p:nvSpPr>
            <p:cNvPr id="250898" name="Freeform 17"/>
            <p:cNvSpPr>
              <a:spLocks/>
            </p:cNvSpPr>
            <p:nvPr/>
          </p:nvSpPr>
          <p:spPr bwMode="auto">
            <a:xfrm>
              <a:off x="832" y="2713"/>
              <a:ext cx="492" cy="407"/>
            </a:xfrm>
            <a:custGeom>
              <a:avLst/>
              <a:gdLst>
                <a:gd name="T0" fmla="*/ 492 w 492"/>
                <a:gd name="T1" fmla="*/ 0 h 2112"/>
                <a:gd name="T2" fmla="*/ 492 w 492"/>
                <a:gd name="T3" fmla="*/ 0 h 2112"/>
                <a:gd name="T4" fmla="*/ 0 w 492"/>
                <a:gd name="T5" fmla="*/ 0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sz="3600" b="0">
                <a:latin typeface="+mn-lt"/>
              </a:endParaRPr>
            </a:p>
          </p:txBody>
        </p:sp>
        <p:grpSp>
          <p:nvGrpSpPr>
            <p:cNvPr id="11" name="Group 18"/>
            <p:cNvGrpSpPr>
              <a:grpSpLocks/>
            </p:cNvGrpSpPr>
            <p:nvPr/>
          </p:nvGrpSpPr>
          <p:grpSpPr bwMode="auto">
            <a:xfrm>
              <a:off x="3393" y="3250"/>
              <a:ext cx="951" cy="734"/>
              <a:chOff x="3365" y="3377"/>
              <a:chExt cx="951" cy="734"/>
            </a:xfrm>
          </p:grpSpPr>
          <p:sp>
            <p:nvSpPr>
              <p:cNvPr id="250900" name="Text Box 19"/>
              <p:cNvSpPr txBox="1">
                <a:spLocks noChangeArrowheads="1"/>
              </p:cNvSpPr>
              <p:nvPr/>
            </p:nvSpPr>
            <p:spPr bwMode="auto">
              <a:xfrm>
                <a:off x="3365" y="3377"/>
                <a:ext cx="951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b="0">
                    <a:solidFill>
                      <a:srgbClr val="000000"/>
                    </a:solidFill>
                    <a:latin typeface="+mn-lt"/>
                  </a:rPr>
                  <a:t>read reply from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b="0">
                    <a:solidFill>
                      <a:srgbClr val="CC0000"/>
                    </a:solidFill>
                    <a:latin typeface="+mn-lt"/>
                  </a:rPr>
                  <a:t>clientSocket</a:t>
                </a:r>
                <a:endParaRPr lang="en-US" sz="2800" b="0">
                  <a:solidFill>
                    <a:srgbClr val="CC0000"/>
                  </a:solidFill>
                  <a:latin typeface="+mn-lt"/>
                </a:endParaRPr>
              </a:p>
            </p:txBody>
          </p:sp>
          <p:sp>
            <p:nvSpPr>
              <p:cNvPr id="250901" name="Text Box 20"/>
              <p:cNvSpPr txBox="1">
                <a:spLocks noChangeArrowheads="1"/>
              </p:cNvSpPr>
              <p:nvPr/>
            </p:nvSpPr>
            <p:spPr bwMode="auto">
              <a:xfrm>
                <a:off x="3389" y="3743"/>
                <a:ext cx="763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b="0">
                    <a:solidFill>
                      <a:srgbClr val="000000"/>
                    </a:solidFill>
                    <a:latin typeface="+mn-lt"/>
                  </a:rPr>
                  <a:t>close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b="0">
                    <a:solidFill>
                      <a:srgbClr val="CC0000"/>
                    </a:solidFill>
                    <a:latin typeface="+mn-lt"/>
                  </a:rPr>
                  <a:t>clientSocket</a:t>
                </a:r>
                <a:endParaRPr lang="en-US" sz="2800" b="0">
                  <a:solidFill>
                    <a:srgbClr val="CC0000"/>
                  </a:solidFill>
                  <a:latin typeface="+mn-lt"/>
                </a:endParaRPr>
              </a:p>
            </p:txBody>
          </p:sp>
          <p:sp>
            <p:nvSpPr>
              <p:cNvPr id="250902" name="Line 21"/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en-US" sz="3600" b="0">
                  <a:latin typeface="+mn-lt"/>
                </a:endParaRPr>
              </a:p>
            </p:txBody>
          </p:sp>
        </p:grpSp>
      </p:grpSp>
      <p:sp>
        <p:nvSpPr>
          <p:cNvPr id="41" name="Slide Number Placeholder 4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Example: Java Client (TCP)</a:t>
            </a:r>
            <a:endParaRPr lang="en-US" sz="5400"/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2057400" y="1600200"/>
            <a:ext cx="6826250" cy="500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import java.io.*;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import java.net.*;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class </a:t>
            </a:r>
            <a:r>
              <a:rPr lang="en-US" sz="1800" b="0" err="1">
                <a:latin typeface="Arial" charset="0"/>
              </a:rPr>
              <a:t>TCPClient</a:t>
            </a:r>
            <a:r>
              <a:rPr lang="en-US" sz="1800" b="0">
                <a:latin typeface="Arial" charset="0"/>
              </a:rPr>
              <a:t>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public static void main(String </a:t>
            </a:r>
            <a:r>
              <a:rPr lang="en-US" sz="1800" b="0" err="1">
                <a:latin typeface="Arial" charset="0"/>
              </a:rPr>
              <a:t>argv</a:t>
            </a:r>
            <a:r>
              <a:rPr lang="en-US" sz="1800" b="0">
                <a:latin typeface="Arial" charset="0"/>
              </a:rPr>
              <a:t>[]) throws Exception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String sentence;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String </a:t>
            </a:r>
            <a:r>
              <a:rPr lang="en-US" sz="1800" b="0" err="1">
                <a:latin typeface="Arial" charset="0"/>
              </a:rPr>
              <a:t>modifiedSentence</a:t>
            </a:r>
            <a:r>
              <a:rPr lang="en-US" sz="1800" b="0">
                <a:latin typeface="Arial" charset="0"/>
              </a:rPr>
              <a:t>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</a:t>
            </a:r>
            <a:r>
              <a:rPr lang="en-US" sz="1800" b="0" err="1">
                <a:latin typeface="Arial" charset="0"/>
              </a:rPr>
              <a:t>BufferedReader</a:t>
            </a:r>
            <a:r>
              <a:rPr lang="en-US" sz="1800" b="0">
                <a:latin typeface="Arial" charset="0"/>
              </a:rPr>
              <a:t> </a:t>
            </a:r>
            <a:r>
              <a:rPr lang="en-US" sz="1800" b="0" err="1">
                <a:latin typeface="Arial" charset="0"/>
              </a:rPr>
              <a:t>inFromUser</a:t>
            </a:r>
            <a:r>
              <a:rPr lang="en-US" sz="18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new </a:t>
            </a:r>
            <a:r>
              <a:rPr lang="en-US" sz="1800" b="0" err="1">
                <a:latin typeface="Arial" charset="0"/>
              </a:rPr>
              <a:t>BufferedReader</a:t>
            </a:r>
            <a:r>
              <a:rPr lang="en-US" sz="1800" b="0">
                <a:latin typeface="Arial" charset="0"/>
              </a:rPr>
              <a:t>(new </a:t>
            </a:r>
            <a:r>
              <a:rPr lang="en-US" sz="1800" b="0" err="1">
                <a:latin typeface="Arial" charset="0"/>
              </a:rPr>
              <a:t>InputStreamReader</a:t>
            </a:r>
            <a:r>
              <a:rPr lang="en-US" sz="1800" b="0">
                <a:latin typeface="Arial" charset="0"/>
              </a:rPr>
              <a:t>(</a:t>
            </a:r>
            <a:r>
              <a:rPr lang="en-US" sz="1800" b="0" err="1">
                <a:latin typeface="Arial" charset="0"/>
              </a:rPr>
              <a:t>System.in</a:t>
            </a:r>
            <a:r>
              <a:rPr lang="en-US" sz="1800" b="0">
                <a:latin typeface="Arial" charset="0"/>
              </a:rPr>
              <a:t>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Socket </a:t>
            </a:r>
            <a:r>
              <a:rPr lang="en-US" sz="1800" b="0" err="1">
                <a:latin typeface="Arial" charset="0"/>
              </a:rPr>
              <a:t>clientSocket</a:t>
            </a:r>
            <a:r>
              <a:rPr lang="en-US" sz="1800" b="0">
                <a:latin typeface="Arial" charset="0"/>
              </a:rPr>
              <a:t> = new Socket("hostname", 6789);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</a:t>
            </a:r>
            <a:r>
              <a:rPr lang="en-US" sz="1800" b="0" err="1">
                <a:latin typeface="Arial" charset="0"/>
              </a:rPr>
              <a:t>DataOutputStream</a:t>
            </a:r>
            <a:r>
              <a:rPr lang="en-US" sz="1800" b="0">
                <a:latin typeface="Arial" charset="0"/>
              </a:rPr>
              <a:t> </a:t>
            </a:r>
            <a:r>
              <a:rPr lang="en-US" sz="1800" b="0" err="1">
                <a:latin typeface="Arial" charset="0"/>
              </a:rPr>
              <a:t>outToServer</a:t>
            </a:r>
            <a:r>
              <a:rPr lang="en-US" sz="18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new </a:t>
            </a:r>
            <a:r>
              <a:rPr lang="en-US" sz="1800" b="0" err="1">
                <a:latin typeface="Arial" charset="0"/>
              </a:rPr>
              <a:t>DataOutputStream</a:t>
            </a:r>
            <a:r>
              <a:rPr lang="en-US" sz="1800" b="0">
                <a:latin typeface="Arial" charset="0"/>
              </a:rPr>
              <a:t>(</a:t>
            </a:r>
            <a:r>
              <a:rPr lang="en-US" sz="1800" b="0" err="1">
                <a:latin typeface="Arial" charset="0"/>
              </a:rPr>
              <a:t>clientSocket.getOutputStream</a:t>
            </a:r>
            <a:r>
              <a:rPr lang="en-US" sz="1800" b="0">
                <a:latin typeface="Arial" charset="0"/>
              </a:rPr>
              <a:t>());</a:t>
            </a:r>
            <a:r>
              <a:rPr lang="en-US" sz="1800" b="0">
                <a:latin typeface="Times New Roman" pitchFamily="18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Times New Roman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Times New Roman" pitchFamily="18" charset="0"/>
              </a:rPr>
              <a:t>       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2625" y="3946528"/>
            <a:ext cx="1798637" cy="541338"/>
            <a:chOff x="455" y="2232"/>
            <a:chExt cx="1133" cy="341"/>
          </a:xfrm>
        </p:grpSpPr>
        <p:sp>
          <p:nvSpPr>
            <p:cNvPr id="136197" name="Text Box 4"/>
            <p:cNvSpPr txBox="1">
              <a:spLocks noChangeArrowheads="1"/>
            </p:cNvSpPr>
            <p:nvPr/>
          </p:nvSpPr>
          <p:spPr bwMode="auto">
            <a:xfrm>
              <a:off x="455" y="2232"/>
              <a:ext cx="868" cy="3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create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input stream</a:t>
              </a:r>
            </a:p>
          </p:txBody>
        </p:sp>
        <p:sp>
          <p:nvSpPr>
            <p:cNvPr id="136198" name="Line 8"/>
            <p:cNvSpPr>
              <a:spLocks noChangeShapeType="1"/>
            </p:cNvSpPr>
            <p:nvPr/>
          </p:nvSpPr>
          <p:spPr bwMode="auto">
            <a:xfrm flipV="1">
              <a:off x="1360" y="2448"/>
              <a:ext cx="228" cy="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 i="1">
                <a:latin typeface="+mn-lt"/>
              </a:endParaRP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20675" y="4570415"/>
            <a:ext cx="2251075" cy="979488"/>
            <a:chOff x="185" y="2625"/>
            <a:chExt cx="1418" cy="617"/>
          </a:xfrm>
        </p:grpSpPr>
        <p:sp>
          <p:nvSpPr>
            <p:cNvPr id="136200" name="Text Box 5"/>
            <p:cNvSpPr txBox="1">
              <a:spLocks noChangeArrowheads="1"/>
            </p:cNvSpPr>
            <p:nvPr/>
          </p:nvSpPr>
          <p:spPr bwMode="auto">
            <a:xfrm>
              <a:off x="185" y="2625"/>
              <a:ext cx="1265" cy="6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create 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clientSocket object 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of type Socket, 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connect to server</a:t>
              </a:r>
            </a:p>
          </p:txBody>
        </p:sp>
        <p:sp>
          <p:nvSpPr>
            <p:cNvPr id="136201" name="Line 10"/>
            <p:cNvSpPr>
              <a:spLocks noChangeShapeType="1"/>
            </p:cNvSpPr>
            <p:nvPr/>
          </p:nvSpPr>
          <p:spPr bwMode="auto">
            <a:xfrm>
              <a:off x="1378" y="2946"/>
              <a:ext cx="225" cy="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 i="1">
                <a:latin typeface="+mn-lt"/>
              </a:endParaRP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68287" y="5540378"/>
            <a:ext cx="2260600" cy="757238"/>
            <a:chOff x="194" y="3236"/>
            <a:chExt cx="1424" cy="477"/>
          </a:xfrm>
        </p:grpSpPr>
        <p:sp>
          <p:nvSpPr>
            <p:cNvPr id="136203" name="Text Box 6"/>
            <p:cNvSpPr txBox="1">
              <a:spLocks noChangeArrowheads="1"/>
            </p:cNvSpPr>
            <p:nvPr/>
          </p:nvSpPr>
          <p:spPr bwMode="auto">
            <a:xfrm>
              <a:off x="194" y="3236"/>
              <a:ext cx="1202" cy="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create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output stream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attached to socket</a:t>
              </a:r>
            </a:p>
          </p:txBody>
        </p:sp>
        <p:sp>
          <p:nvSpPr>
            <p:cNvPr id="136204" name="Line 12"/>
            <p:cNvSpPr>
              <a:spLocks noChangeShapeType="1"/>
            </p:cNvSpPr>
            <p:nvPr/>
          </p:nvSpPr>
          <p:spPr bwMode="auto">
            <a:xfrm flipV="1">
              <a:off x="1390" y="3302"/>
              <a:ext cx="228" cy="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 i="1">
                <a:latin typeface="+mn-lt"/>
              </a:endParaRP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3997325" y="1765301"/>
            <a:ext cx="3605212" cy="563563"/>
            <a:chOff x="2543" y="858"/>
            <a:chExt cx="2271" cy="355"/>
          </a:xfrm>
        </p:grpSpPr>
        <p:sp>
          <p:nvSpPr>
            <p:cNvPr id="136207" name="Line 15"/>
            <p:cNvSpPr>
              <a:spLocks noChangeShapeType="1"/>
            </p:cNvSpPr>
            <p:nvPr/>
          </p:nvSpPr>
          <p:spPr bwMode="auto">
            <a:xfrm flipH="1">
              <a:off x="2543" y="1019"/>
              <a:ext cx="414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0" i="1">
                <a:latin typeface="+mn-lt"/>
              </a:endParaRPr>
            </a:p>
          </p:txBody>
        </p:sp>
        <p:sp>
          <p:nvSpPr>
            <p:cNvPr id="136208" name="Text Box 16"/>
            <p:cNvSpPr txBox="1">
              <a:spLocks noChangeArrowheads="1"/>
            </p:cNvSpPr>
            <p:nvPr/>
          </p:nvSpPr>
          <p:spPr bwMode="auto">
            <a:xfrm>
              <a:off x="2939" y="858"/>
              <a:ext cx="1875" cy="35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342900" indent="-342900">
                <a:lnSpc>
                  <a:spcPct val="85000"/>
                </a:lnSpc>
                <a:spcBef>
                  <a:spcPct val="0"/>
                </a:spcBef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This package defines Socket() </a:t>
              </a:r>
            </a:p>
            <a:p>
              <a:pPr marL="342900" indent="-342900">
                <a:lnSpc>
                  <a:spcPct val="85000"/>
                </a:lnSpc>
                <a:spcBef>
                  <a:spcPct val="0"/>
                </a:spcBef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and </a:t>
              </a:r>
              <a:r>
                <a:rPr lang="en-US" sz="1800" b="0" i="1" err="1">
                  <a:solidFill>
                    <a:srgbClr val="000099"/>
                  </a:solidFill>
                  <a:latin typeface="+mn-lt"/>
                </a:rPr>
                <a:t>ServerSocket</a:t>
              </a: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() classes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7167563" y="3790950"/>
            <a:ext cx="1427163" cy="1516063"/>
            <a:chOff x="4540" y="2134"/>
            <a:chExt cx="899" cy="955"/>
          </a:xfrm>
        </p:grpSpPr>
        <p:sp>
          <p:nvSpPr>
            <p:cNvPr id="136210" name="Oval 18"/>
            <p:cNvSpPr>
              <a:spLocks noChangeArrowheads="1"/>
            </p:cNvSpPr>
            <p:nvPr/>
          </p:nvSpPr>
          <p:spPr bwMode="auto">
            <a:xfrm>
              <a:off x="4660" y="2786"/>
              <a:ext cx="468" cy="303"/>
            </a:xfrm>
            <a:prstGeom prst="ellipse">
              <a:avLst/>
            </a:prstGeom>
            <a:noFill/>
            <a:ln w="19050" algn="ctr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36211" name="Line 19"/>
            <p:cNvSpPr>
              <a:spLocks noChangeShapeType="1"/>
            </p:cNvSpPr>
            <p:nvPr/>
          </p:nvSpPr>
          <p:spPr bwMode="auto">
            <a:xfrm flipH="1">
              <a:off x="4946" y="2362"/>
              <a:ext cx="101" cy="396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0"/>
            </a:p>
          </p:txBody>
        </p:sp>
        <p:sp>
          <p:nvSpPr>
            <p:cNvPr id="136212" name="Text Box 20"/>
            <p:cNvSpPr txBox="1">
              <a:spLocks noChangeArrowheads="1"/>
            </p:cNvSpPr>
            <p:nvPr/>
          </p:nvSpPr>
          <p:spPr bwMode="auto">
            <a:xfrm>
              <a:off x="4540" y="2134"/>
              <a:ext cx="899" cy="20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342900" indent="-342900">
                <a:lnSpc>
                  <a:spcPct val="85000"/>
                </a:lnSpc>
                <a:spcBef>
                  <a:spcPct val="0"/>
                </a:spcBef>
              </a:pPr>
              <a:r>
                <a:rPr lang="en-US" sz="1800" b="0">
                  <a:solidFill>
                    <a:srgbClr val="000099"/>
                  </a:solidFill>
                  <a:latin typeface="+mn-lt"/>
                </a:rPr>
                <a:t>server</a:t>
              </a:r>
              <a:r>
                <a:rPr lang="en-US" sz="1800" b="0">
                  <a:solidFill>
                    <a:srgbClr val="000099"/>
                  </a:solidFill>
                </a:rPr>
                <a:t> </a:t>
              </a:r>
              <a:r>
                <a:rPr lang="en-US" sz="1800" b="0">
                  <a:solidFill>
                    <a:srgbClr val="000099"/>
                  </a:solidFill>
                  <a:latin typeface="+mn-lt"/>
                </a:rPr>
                <a:t>port</a:t>
              </a:r>
              <a:r>
                <a:rPr lang="en-US" sz="1800" b="0">
                  <a:solidFill>
                    <a:srgbClr val="000099"/>
                  </a:solidFill>
                </a:rPr>
                <a:t> #</a:t>
              </a: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6116636" y="3167063"/>
            <a:ext cx="2416175" cy="2132012"/>
            <a:chOff x="3878" y="1741"/>
            <a:chExt cx="1522" cy="1343"/>
          </a:xfrm>
        </p:grpSpPr>
        <p:sp>
          <p:nvSpPr>
            <p:cNvPr id="136214" name="Oval 22"/>
            <p:cNvSpPr>
              <a:spLocks noChangeArrowheads="1"/>
            </p:cNvSpPr>
            <p:nvPr/>
          </p:nvSpPr>
          <p:spPr bwMode="auto">
            <a:xfrm>
              <a:off x="3878" y="2781"/>
              <a:ext cx="879" cy="303"/>
            </a:xfrm>
            <a:prstGeom prst="ellipse">
              <a:avLst/>
            </a:prstGeom>
            <a:noFill/>
            <a:ln w="19050" algn="ctr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36215" name="Line 23"/>
            <p:cNvSpPr>
              <a:spLocks noChangeShapeType="1"/>
            </p:cNvSpPr>
            <p:nvPr/>
          </p:nvSpPr>
          <p:spPr bwMode="auto">
            <a:xfrm flipH="1">
              <a:off x="4402" y="2027"/>
              <a:ext cx="187" cy="71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36216" name="Text Box 24"/>
            <p:cNvSpPr txBox="1">
              <a:spLocks noChangeArrowheads="1"/>
            </p:cNvSpPr>
            <p:nvPr/>
          </p:nvSpPr>
          <p:spPr bwMode="auto">
            <a:xfrm>
              <a:off x="4020" y="1741"/>
              <a:ext cx="1380" cy="3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342900" indent="-342900"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1800" b="0">
                  <a:solidFill>
                    <a:srgbClr val="000099"/>
                  </a:solidFill>
                  <a:latin typeface="+mn-lt"/>
                </a:rPr>
                <a:t>server name,</a:t>
              </a:r>
            </a:p>
            <a:p>
              <a:pPr marL="342900" indent="-342900"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1800" b="0">
                  <a:solidFill>
                    <a:srgbClr val="000099"/>
                  </a:solidFill>
                  <a:latin typeface="+mn-lt"/>
                </a:rPr>
                <a:t>e.g., www.umass.edu</a:t>
              </a:r>
            </a:p>
          </p:txBody>
        </p:sp>
      </p:grpSp>
      <p:sp>
        <p:nvSpPr>
          <p:cNvPr id="24" name="Slide Number Placeholder 2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/>
              <a:t>Example: Java client (TCP) – cont’d</a:t>
            </a:r>
          </a:p>
        </p:txBody>
      </p:sp>
      <p:sp>
        <p:nvSpPr>
          <p:cNvPr id="137219" name="Rectangle 3"/>
          <p:cNvSpPr>
            <a:spLocks noChangeArrowheads="1"/>
          </p:cNvSpPr>
          <p:nvPr/>
        </p:nvSpPr>
        <p:spPr bwMode="auto">
          <a:xfrm>
            <a:off x="2490788" y="1865313"/>
            <a:ext cx="6394450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Times New Roman" pitchFamily="18" charset="0"/>
              </a:rPr>
              <a:t>        </a:t>
            </a:r>
            <a:r>
              <a:rPr lang="en-US" sz="1800" b="0" err="1">
                <a:latin typeface="Arial" charset="0"/>
              </a:rPr>
              <a:t>BufferedReader</a:t>
            </a:r>
            <a:r>
              <a:rPr lang="en-US" sz="1800" b="0">
                <a:latin typeface="Arial" charset="0"/>
              </a:rPr>
              <a:t> </a:t>
            </a:r>
            <a:r>
              <a:rPr lang="en-US" sz="1800" b="0" err="1">
                <a:latin typeface="Arial" charset="0"/>
              </a:rPr>
              <a:t>inFromServer</a:t>
            </a:r>
            <a:r>
              <a:rPr lang="en-US" sz="18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new </a:t>
            </a:r>
            <a:r>
              <a:rPr lang="en-US" sz="1800" b="0" err="1">
                <a:latin typeface="Arial" charset="0"/>
              </a:rPr>
              <a:t>BufferedReader</a:t>
            </a:r>
            <a:r>
              <a:rPr lang="en-US" sz="1800" b="0">
                <a:latin typeface="Arial" charset="0"/>
              </a:rPr>
              <a:t>(new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</a:t>
            </a:r>
            <a:r>
              <a:rPr lang="en-US" sz="1800" b="0" err="1">
                <a:latin typeface="Arial" charset="0"/>
              </a:rPr>
              <a:t>InputStreamReader</a:t>
            </a:r>
            <a:r>
              <a:rPr lang="en-US" sz="1800" b="0">
                <a:latin typeface="Arial" charset="0"/>
              </a:rPr>
              <a:t>(</a:t>
            </a:r>
            <a:r>
              <a:rPr lang="en-US" sz="1800" b="0" err="1">
                <a:latin typeface="Arial" charset="0"/>
              </a:rPr>
              <a:t>clientSocket.getInputStream</a:t>
            </a:r>
            <a:r>
              <a:rPr lang="en-US" sz="1800" b="0">
                <a:latin typeface="Arial" charset="0"/>
              </a:rPr>
              <a:t>()));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sentence = </a:t>
            </a:r>
            <a:r>
              <a:rPr lang="en-US" sz="1800" b="0" err="1">
                <a:latin typeface="Arial" charset="0"/>
              </a:rPr>
              <a:t>inFromUser.readLine</a:t>
            </a:r>
            <a:r>
              <a:rPr lang="en-US" sz="18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</a:t>
            </a:r>
            <a:r>
              <a:rPr lang="en-US" sz="1800" b="0" err="1">
                <a:latin typeface="Arial" charset="0"/>
              </a:rPr>
              <a:t>outToServer.writeBytes</a:t>
            </a:r>
            <a:r>
              <a:rPr lang="en-US" sz="1800" b="0">
                <a:latin typeface="Arial" charset="0"/>
              </a:rPr>
              <a:t>(sentence + '\n');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</a:t>
            </a:r>
            <a:r>
              <a:rPr lang="en-US" sz="1800" b="0" err="1">
                <a:latin typeface="Arial" charset="0"/>
              </a:rPr>
              <a:t>modifiedSentence</a:t>
            </a:r>
            <a:r>
              <a:rPr lang="en-US" sz="1800" b="0">
                <a:latin typeface="Arial" charset="0"/>
              </a:rPr>
              <a:t> = </a:t>
            </a:r>
            <a:r>
              <a:rPr lang="en-US" sz="1800" b="0" err="1">
                <a:latin typeface="Arial" charset="0"/>
              </a:rPr>
              <a:t>inFromServer.readLine</a:t>
            </a:r>
            <a:r>
              <a:rPr lang="en-US" sz="18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</a:t>
            </a:r>
            <a:r>
              <a:rPr lang="en-US" sz="1800" b="0" err="1">
                <a:latin typeface="Arial" charset="0"/>
              </a:rPr>
              <a:t>System.out.println</a:t>
            </a:r>
            <a:r>
              <a:rPr lang="en-US" sz="1600" b="0">
                <a:latin typeface="Arial" charset="0"/>
              </a:rPr>
              <a:t>("FROM SERVER: " + </a:t>
            </a:r>
            <a:r>
              <a:rPr lang="en-US" sz="1600" b="0" err="1">
                <a:latin typeface="Arial" charset="0"/>
              </a:rPr>
              <a:t>modifiedSentence</a:t>
            </a:r>
            <a:r>
              <a:rPr lang="en-US" sz="1800" b="0">
                <a:latin typeface="Arial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</a:t>
            </a:r>
            <a:r>
              <a:rPr lang="en-US" sz="1800" b="0" err="1">
                <a:latin typeface="Arial" charset="0"/>
              </a:rPr>
              <a:t>clientSocket.close</a:t>
            </a:r>
            <a:r>
              <a:rPr lang="en-US" sz="18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}</a:t>
            </a:r>
            <a:r>
              <a:rPr lang="en-US" sz="1600" b="0">
                <a:latin typeface="Arial" charset="0"/>
              </a:rPr>
              <a:t> </a:t>
            </a: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114300" y="1931988"/>
            <a:ext cx="2392363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create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input stream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attached to socket</a:t>
            </a:r>
          </a:p>
        </p:txBody>
      </p:sp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1372628" y="3376613"/>
            <a:ext cx="1010212" cy="541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send line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to server</a:t>
            </a:r>
          </a:p>
        </p:txBody>
      </p:sp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1155382" y="4043363"/>
            <a:ext cx="1260793" cy="541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read line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from server</a:t>
            </a:r>
          </a:p>
        </p:txBody>
      </p:sp>
      <p:sp>
        <p:nvSpPr>
          <p:cNvPr id="137224" name="Line 8"/>
          <p:cNvSpPr>
            <a:spLocks noChangeShapeType="1"/>
          </p:cNvSpPr>
          <p:nvPr/>
        </p:nvSpPr>
        <p:spPr bwMode="auto">
          <a:xfrm>
            <a:off x="2498725" y="2341563"/>
            <a:ext cx="64611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0">
              <a:latin typeface="+mn-lt"/>
            </a:endParaRPr>
          </a:p>
        </p:txBody>
      </p:sp>
      <p:sp>
        <p:nvSpPr>
          <p:cNvPr id="137225" name="Line 9"/>
          <p:cNvSpPr>
            <a:spLocks noChangeShapeType="1"/>
          </p:cNvSpPr>
          <p:nvPr/>
        </p:nvSpPr>
        <p:spPr bwMode="auto">
          <a:xfrm>
            <a:off x="2371725" y="3698875"/>
            <a:ext cx="64611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0">
              <a:latin typeface="+mn-lt"/>
            </a:endParaRPr>
          </a:p>
        </p:txBody>
      </p:sp>
      <p:sp>
        <p:nvSpPr>
          <p:cNvPr id="137226" name="Line 10"/>
          <p:cNvSpPr>
            <a:spLocks noChangeShapeType="1"/>
          </p:cNvSpPr>
          <p:nvPr/>
        </p:nvSpPr>
        <p:spPr bwMode="auto">
          <a:xfrm>
            <a:off x="2411413" y="4264025"/>
            <a:ext cx="646112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0">
              <a:latin typeface="+mn-lt"/>
            </a:endParaRPr>
          </a:p>
        </p:txBody>
      </p:sp>
      <p:sp>
        <p:nvSpPr>
          <p:cNvPr id="137227" name="Text Box 6"/>
          <p:cNvSpPr txBox="1">
            <a:spLocks noChangeArrowheads="1"/>
          </p:cNvSpPr>
          <p:nvPr/>
        </p:nvSpPr>
        <p:spPr bwMode="auto">
          <a:xfrm>
            <a:off x="500456" y="5167313"/>
            <a:ext cx="1856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close socket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200" b="0" i="1">
                <a:solidFill>
                  <a:srgbClr val="000099"/>
                </a:solidFill>
                <a:latin typeface="+mn-lt"/>
              </a:rPr>
              <a:t>(clean up behind yourself!)</a:t>
            </a:r>
          </a:p>
        </p:txBody>
      </p:sp>
      <p:sp>
        <p:nvSpPr>
          <p:cNvPr id="137228" name="Line 12"/>
          <p:cNvSpPr>
            <a:spLocks noChangeShapeType="1"/>
          </p:cNvSpPr>
          <p:nvPr/>
        </p:nvSpPr>
        <p:spPr bwMode="auto">
          <a:xfrm>
            <a:off x="2352675" y="5353050"/>
            <a:ext cx="64611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0">
              <a:latin typeface="+mn-lt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/>
      <p:bldP spid="137221" grpId="0"/>
      <p:bldP spid="137222" grpId="0"/>
      <p:bldP spid="137224" grpId="0" animBg="1"/>
      <p:bldP spid="137225" grpId="0" animBg="1"/>
      <p:bldP spid="137226" grpId="0" animBg="1"/>
      <p:bldP spid="137227" grpId="0"/>
      <p:bldP spid="1372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Example: Java server (TCP)</a:t>
            </a:r>
          </a:p>
        </p:txBody>
      </p:sp>
      <p:sp>
        <p:nvSpPr>
          <p:cNvPr id="138243" name="Rectangle 3"/>
          <p:cNvSpPr>
            <a:spLocks noChangeArrowheads="1"/>
          </p:cNvSpPr>
          <p:nvPr/>
        </p:nvSpPr>
        <p:spPr bwMode="auto">
          <a:xfrm>
            <a:off x="2714612" y="1428736"/>
            <a:ext cx="6262688" cy="522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import java.io.*;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import java.net.*;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class </a:t>
            </a:r>
            <a:r>
              <a:rPr lang="en-US" sz="1600" b="0" err="1">
                <a:latin typeface="Arial" charset="0"/>
              </a:rPr>
              <a:t>TCPServer</a:t>
            </a:r>
            <a:r>
              <a:rPr lang="en-US" sz="1600" b="0">
                <a:latin typeface="Arial" charset="0"/>
              </a:rPr>
              <a:t>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public static void main(String </a:t>
            </a:r>
            <a:r>
              <a:rPr lang="en-US" sz="1600" b="0" err="1">
                <a:latin typeface="Arial" charset="0"/>
              </a:rPr>
              <a:t>argv</a:t>
            </a:r>
            <a:r>
              <a:rPr lang="en-US" sz="1600" b="0">
                <a:latin typeface="Arial" charset="0"/>
              </a:rPr>
              <a:t>[]) throws Exception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String </a:t>
            </a:r>
            <a:r>
              <a:rPr lang="en-US" sz="1600" b="0" err="1">
                <a:latin typeface="Arial" charset="0"/>
              </a:rPr>
              <a:t>clientSentence</a:t>
            </a:r>
            <a:r>
              <a:rPr lang="en-US" sz="1600" b="0">
                <a:latin typeface="Arial" charset="0"/>
              </a:rPr>
              <a:t>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String </a:t>
            </a:r>
            <a:r>
              <a:rPr lang="en-US" sz="1600" b="0" err="1">
                <a:latin typeface="Arial" charset="0"/>
              </a:rPr>
              <a:t>capitalizedSentence</a:t>
            </a:r>
            <a:r>
              <a:rPr lang="en-US" sz="1600" b="0">
                <a:latin typeface="Arial" charset="0"/>
              </a:rPr>
              <a:t>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</a:t>
            </a:r>
            <a:r>
              <a:rPr lang="en-US" sz="1600" b="0" err="1">
                <a:latin typeface="Arial" charset="0"/>
              </a:rPr>
              <a:t>ServerSocket</a:t>
            </a:r>
            <a:r>
              <a:rPr lang="en-US" sz="1600" b="0">
                <a:latin typeface="Arial" charset="0"/>
              </a:rPr>
              <a:t> </a:t>
            </a:r>
            <a:r>
              <a:rPr lang="en-US" sz="1600" b="0" err="1">
                <a:latin typeface="Arial" charset="0"/>
              </a:rPr>
              <a:t>welcomeSocket</a:t>
            </a:r>
            <a:r>
              <a:rPr lang="en-US" sz="1600" b="0">
                <a:latin typeface="Arial" charset="0"/>
              </a:rPr>
              <a:t> = new </a:t>
            </a:r>
            <a:r>
              <a:rPr lang="en-US" sz="1600" b="0" err="1">
                <a:latin typeface="Arial" charset="0"/>
              </a:rPr>
              <a:t>ServerSocket</a:t>
            </a:r>
            <a:r>
              <a:rPr lang="en-US" sz="1600" b="0">
                <a:latin typeface="Arial" charset="0"/>
              </a:rPr>
              <a:t>(6789);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while(true)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 Socket </a:t>
            </a:r>
            <a:r>
              <a:rPr lang="en-US" sz="1600" b="0" err="1">
                <a:latin typeface="Arial" charset="0"/>
              </a:rPr>
              <a:t>connectionSocket</a:t>
            </a:r>
            <a:r>
              <a:rPr lang="en-US" sz="1600" b="0">
                <a:latin typeface="Arial" charset="0"/>
              </a:rPr>
              <a:t> = </a:t>
            </a:r>
            <a:r>
              <a:rPr lang="en-US" sz="1600" b="0" err="1">
                <a:latin typeface="Arial" charset="0"/>
              </a:rPr>
              <a:t>welcomeSocket.accept</a:t>
            </a:r>
            <a:r>
              <a:rPr lang="en-US" sz="16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</a:t>
            </a:r>
            <a:r>
              <a:rPr lang="en-US" sz="1600" b="0" err="1">
                <a:latin typeface="Arial" charset="0"/>
              </a:rPr>
              <a:t>BufferedReader</a:t>
            </a:r>
            <a:r>
              <a:rPr lang="en-US" sz="1600" b="0">
                <a:latin typeface="Arial" charset="0"/>
              </a:rPr>
              <a:t> </a:t>
            </a:r>
            <a:r>
              <a:rPr lang="en-US" sz="1600" b="0" err="1">
                <a:latin typeface="Arial" charset="0"/>
              </a:rPr>
              <a:t>inFromClient</a:t>
            </a:r>
            <a:r>
              <a:rPr lang="en-US" sz="16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   new </a:t>
            </a:r>
            <a:r>
              <a:rPr lang="en-US" sz="1600" b="0" err="1">
                <a:latin typeface="Arial" charset="0"/>
              </a:rPr>
              <a:t>BufferedReader</a:t>
            </a:r>
            <a:r>
              <a:rPr lang="en-US" sz="1600" b="0">
                <a:latin typeface="Arial" charset="0"/>
              </a:rPr>
              <a:t>(new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   </a:t>
            </a:r>
            <a:r>
              <a:rPr lang="en-US" sz="1600" b="0" err="1">
                <a:latin typeface="Arial" charset="0"/>
              </a:rPr>
              <a:t>InputStreamReader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connectionSocket.getInputStream</a:t>
            </a:r>
            <a:r>
              <a:rPr lang="en-US" sz="1600" b="0">
                <a:latin typeface="Arial" charset="0"/>
              </a:rPr>
              <a:t>()));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0">
                <a:latin typeface="Arial" charset="0"/>
              </a:rPr>
              <a:t>           </a:t>
            </a:r>
            <a:endParaRPr lang="en-US" b="0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39701" y="4395792"/>
            <a:ext cx="3173413" cy="1200151"/>
            <a:chOff x="88" y="2635"/>
            <a:chExt cx="1999" cy="756"/>
          </a:xfrm>
        </p:grpSpPr>
        <p:sp>
          <p:nvSpPr>
            <p:cNvPr id="138245" name="Text Box 5"/>
            <p:cNvSpPr txBox="1">
              <a:spLocks noChangeArrowheads="1"/>
            </p:cNvSpPr>
            <p:nvPr/>
          </p:nvSpPr>
          <p:spPr bwMode="auto">
            <a:xfrm>
              <a:off x="88" y="2635"/>
              <a:ext cx="1589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wait, on welcoming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socket accept() method 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for client contact create, 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 u="sng">
                  <a:solidFill>
                    <a:srgbClr val="FF0000"/>
                  </a:solidFill>
                  <a:latin typeface="+mn-lt"/>
                </a:rPr>
                <a:t>new</a:t>
              </a: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 socket on return </a:t>
              </a:r>
            </a:p>
          </p:txBody>
        </p:sp>
        <p:sp>
          <p:nvSpPr>
            <p:cNvPr id="138246" name="Line 10"/>
            <p:cNvSpPr>
              <a:spLocks noChangeShapeType="1"/>
            </p:cNvSpPr>
            <p:nvPr/>
          </p:nvSpPr>
          <p:spPr bwMode="auto">
            <a:xfrm flipV="1">
              <a:off x="1658" y="3053"/>
              <a:ext cx="429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 i="1">
                <a:latin typeface="+mn-lt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708026" y="3563938"/>
            <a:ext cx="2271713" cy="762000"/>
            <a:chOff x="446" y="2111"/>
            <a:chExt cx="1431" cy="480"/>
          </a:xfrm>
        </p:grpSpPr>
        <p:sp>
          <p:nvSpPr>
            <p:cNvPr id="138249" name="Text Box 4"/>
            <p:cNvSpPr txBox="1">
              <a:spLocks noChangeArrowheads="1"/>
            </p:cNvSpPr>
            <p:nvPr/>
          </p:nvSpPr>
          <p:spPr bwMode="auto">
            <a:xfrm>
              <a:off x="446" y="2111"/>
              <a:ext cx="1167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create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welcoming socket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at port 6789</a:t>
              </a:r>
            </a:p>
          </p:txBody>
        </p:sp>
        <p:sp>
          <p:nvSpPr>
            <p:cNvPr id="138250" name="Line 10"/>
            <p:cNvSpPr>
              <a:spLocks noChangeShapeType="1"/>
            </p:cNvSpPr>
            <p:nvPr/>
          </p:nvSpPr>
          <p:spPr bwMode="auto">
            <a:xfrm flipV="1">
              <a:off x="1602" y="2417"/>
              <a:ext cx="275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 i="1">
                <a:latin typeface="+mn-lt"/>
              </a:endParaRP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744538" y="5573713"/>
            <a:ext cx="2552700" cy="762000"/>
            <a:chOff x="469" y="3377"/>
            <a:chExt cx="1608" cy="480"/>
          </a:xfrm>
        </p:grpSpPr>
        <p:sp>
          <p:nvSpPr>
            <p:cNvPr id="138252" name="Text Box 6"/>
            <p:cNvSpPr txBox="1">
              <a:spLocks noChangeArrowheads="1"/>
            </p:cNvSpPr>
            <p:nvPr/>
          </p:nvSpPr>
          <p:spPr bwMode="auto">
            <a:xfrm>
              <a:off x="469" y="3377"/>
              <a:ext cx="1149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create input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stream, attached 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0" i="1">
                  <a:solidFill>
                    <a:srgbClr val="000099"/>
                  </a:solidFill>
                  <a:latin typeface="+mn-lt"/>
                </a:rPr>
                <a:t>to socket</a:t>
              </a:r>
            </a:p>
          </p:txBody>
        </p:sp>
        <p:sp>
          <p:nvSpPr>
            <p:cNvPr id="138253" name="Line 10"/>
            <p:cNvSpPr>
              <a:spLocks noChangeShapeType="1"/>
            </p:cNvSpPr>
            <p:nvPr/>
          </p:nvSpPr>
          <p:spPr bwMode="auto">
            <a:xfrm flipV="1">
              <a:off x="1648" y="3500"/>
              <a:ext cx="429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b="0" i="1">
                <a:latin typeface="+mn-lt"/>
              </a:endParaRP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/>
              <a:t>Example: Java Server (TCP) – cont’d</a:t>
            </a:r>
          </a:p>
        </p:txBody>
      </p:sp>
      <p:sp>
        <p:nvSpPr>
          <p:cNvPr id="139267" name="Rectangle 3"/>
          <p:cNvSpPr>
            <a:spLocks noChangeArrowheads="1"/>
          </p:cNvSpPr>
          <p:nvPr/>
        </p:nvSpPr>
        <p:spPr bwMode="auto">
          <a:xfrm>
            <a:off x="1851025" y="1617663"/>
            <a:ext cx="7066358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 </a:t>
            </a:r>
            <a:r>
              <a:rPr lang="en-US" sz="1800" b="0" err="1">
                <a:latin typeface="Arial" charset="0"/>
              </a:rPr>
              <a:t>DataOutputStream</a:t>
            </a:r>
            <a:r>
              <a:rPr lang="en-US" sz="1800" b="0">
                <a:latin typeface="Arial" charset="0"/>
              </a:rPr>
              <a:t>  </a:t>
            </a:r>
            <a:r>
              <a:rPr lang="en-US" sz="1800" b="0" err="1">
                <a:latin typeface="Arial" charset="0"/>
              </a:rPr>
              <a:t>outToClient</a:t>
            </a:r>
            <a:r>
              <a:rPr lang="en-US" sz="1800" b="0">
                <a:latin typeface="Arial" charset="0"/>
              </a:rPr>
              <a:t>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   new </a:t>
            </a:r>
            <a:r>
              <a:rPr lang="en-US" sz="1800" b="0" err="1">
                <a:latin typeface="Arial" charset="0"/>
              </a:rPr>
              <a:t>DataOutputStream</a:t>
            </a:r>
            <a:r>
              <a:rPr lang="en-US" sz="1600" b="0">
                <a:latin typeface="Arial" charset="0"/>
              </a:rPr>
              <a:t>(</a:t>
            </a:r>
            <a:r>
              <a:rPr lang="en-US" sz="1600" b="0" err="1">
                <a:latin typeface="Arial" charset="0"/>
              </a:rPr>
              <a:t>connectionSocket.getOutputStream</a:t>
            </a:r>
            <a:r>
              <a:rPr lang="en-US" sz="1600" b="0">
                <a:latin typeface="Arial" charset="0"/>
              </a:rPr>
              <a:t>());</a:t>
            </a:r>
            <a:r>
              <a:rPr lang="en-US" sz="1800" b="0">
                <a:latin typeface="Arial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 </a:t>
            </a:r>
            <a:r>
              <a:rPr lang="en-US" sz="1800" b="0" err="1">
                <a:latin typeface="Arial" charset="0"/>
              </a:rPr>
              <a:t>clientSentence</a:t>
            </a:r>
            <a:r>
              <a:rPr lang="en-US" sz="1800" b="0">
                <a:latin typeface="Arial" charset="0"/>
              </a:rPr>
              <a:t> = </a:t>
            </a:r>
            <a:r>
              <a:rPr lang="en-US" sz="1800" b="0" err="1">
                <a:latin typeface="Arial" charset="0"/>
              </a:rPr>
              <a:t>inFromClient.readLine</a:t>
            </a:r>
            <a:r>
              <a:rPr lang="en-US" sz="1800" b="0">
                <a:latin typeface="Arial" charset="0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 </a:t>
            </a:r>
            <a:r>
              <a:rPr lang="en-US" sz="1800" b="0" err="1">
                <a:latin typeface="Arial" charset="0"/>
              </a:rPr>
              <a:t>capitalizedSentence</a:t>
            </a:r>
            <a:r>
              <a:rPr lang="en-US" sz="1800" b="0">
                <a:latin typeface="Arial" charset="0"/>
              </a:rPr>
              <a:t> = </a:t>
            </a:r>
            <a:r>
              <a:rPr lang="en-US" sz="1800" b="0" err="1">
                <a:latin typeface="Arial" charset="0"/>
              </a:rPr>
              <a:t>clientSentence.toUpperCase</a:t>
            </a:r>
            <a:r>
              <a:rPr lang="en-US" sz="1800" b="0">
                <a:latin typeface="Arial" charset="0"/>
              </a:rPr>
              <a:t>() + '\n';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b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   </a:t>
            </a:r>
            <a:r>
              <a:rPr lang="en-US" sz="1800" b="0" err="1">
                <a:latin typeface="Arial" charset="0"/>
              </a:rPr>
              <a:t>outToClient.writeBytes</a:t>
            </a:r>
            <a:r>
              <a:rPr lang="en-US" sz="1800" b="0">
                <a:latin typeface="Arial" charset="0"/>
              </a:rPr>
              <a:t>(</a:t>
            </a:r>
            <a:r>
              <a:rPr lang="en-US" sz="1800" b="0" err="1">
                <a:latin typeface="Arial" charset="0"/>
              </a:rPr>
              <a:t>capitalizedSentence</a:t>
            </a:r>
            <a:r>
              <a:rPr lang="en-US" sz="1800" b="0">
                <a:latin typeface="Arial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latin typeface="Arial" charset="0"/>
              </a:rPr>
              <a:t>}</a:t>
            </a:r>
            <a:r>
              <a:rPr lang="en-US" sz="1800" b="0">
                <a:latin typeface="Times New Roman" pitchFamily="18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b="0">
                <a:latin typeface="Times New Roman" pitchFamily="18" charset="0"/>
              </a:rPr>
              <a:t> </a:t>
            </a:r>
          </a:p>
        </p:txBody>
      </p:sp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944603" y="2814638"/>
            <a:ext cx="1276310" cy="541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read in  line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from socket</a:t>
            </a:r>
          </a:p>
        </p:txBody>
      </p:sp>
      <p:sp>
        <p:nvSpPr>
          <p:cNvPr id="139269" name="Text Box 5"/>
          <p:cNvSpPr txBox="1">
            <a:spLocks noChangeArrowheads="1"/>
          </p:cNvSpPr>
          <p:nvPr/>
        </p:nvSpPr>
        <p:spPr bwMode="auto">
          <a:xfrm>
            <a:off x="127000" y="1817688"/>
            <a:ext cx="2093913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create output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stream, attached 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to socket</a:t>
            </a:r>
          </a:p>
        </p:txBody>
      </p:sp>
      <p:sp>
        <p:nvSpPr>
          <p:cNvPr id="139270" name="Text Box 10"/>
          <p:cNvSpPr txBox="1">
            <a:spLocks noChangeArrowheads="1"/>
          </p:cNvSpPr>
          <p:nvPr/>
        </p:nvSpPr>
        <p:spPr bwMode="auto">
          <a:xfrm>
            <a:off x="818677" y="3957638"/>
            <a:ext cx="1421287" cy="541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write out line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to socket</a:t>
            </a:r>
          </a:p>
        </p:txBody>
      </p:sp>
      <p:sp>
        <p:nvSpPr>
          <p:cNvPr id="139271" name="Text Box 13"/>
          <p:cNvSpPr txBox="1">
            <a:spLocks noChangeArrowheads="1"/>
          </p:cNvSpPr>
          <p:nvPr/>
        </p:nvSpPr>
        <p:spPr bwMode="auto">
          <a:xfrm>
            <a:off x="3209925" y="4889500"/>
            <a:ext cx="260276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end of while loop,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loop back and wait for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i="1">
                <a:solidFill>
                  <a:srgbClr val="000099"/>
                </a:solidFill>
                <a:latin typeface="+mn-lt"/>
              </a:rPr>
              <a:t>another client connection</a:t>
            </a:r>
          </a:p>
        </p:txBody>
      </p:sp>
      <p:sp>
        <p:nvSpPr>
          <p:cNvPr id="139272" name="Line 15"/>
          <p:cNvSpPr>
            <a:spLocks noChangeShapeType="1"/>
          </p:cNvSpPr>
          <p:nvPr/>
        </p:nvSpPr>
        <p:spPr bwMode="auto">
          <a:xfrm flipH="1" flipV="1">
            <a:off x="2543175" y="4552950"/>
            <a:ext cx="647700" cy="604838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139274" name="Line 10"/>
          <p:cNvSpPr>
            <a:spLocks noChangeShapeType="1"/>
          </p:cNvSpPr>
          <p:nvPr/>
        </p:nvSpPr>
        <p:spPr bwMode="auto">
          <a:xfrm>
            <a:off x="2241550" y="2286000"/>
            <a:ext cx="33496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0">
              <a:latin typeface="+mn-lt"/>
            </a:endParaRPr>
          </a:p>
        </p:txBody>
      </p:sp>
      <p:sp>
        <p:nvSpPr>
          <p:cNvPr id="139275" name="Line 11"/>
          <p:cNvSpPr>
            <a:spLocks noChangeShapeType="1"/>
          </p:cNvSpPr>
          <p:nvPr/>
        </p:nvSpPr>
        <p:spPr bwMode="auto">
          <a:xfrm>
            <a:off x="2247900" y="3130550"/>
            <a:ext cx="33496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0">
              <a:latin typeface="+mn-lt"/>
            </a:endParaRPr>
          </a:p>
        </p:txBody>
      </p:sp>
      <p:sp>
        <p:nvSpPr>
          <p:cNvPr id="139276" name="Line 12"/>
          <p:cNvSpPr>
            <a:spLocks noChangeShapeType="1"/>
          </p:cNvSpPr>
          <p:nvPr/>
        </p:nvSpPr>
        <p:spPr bwMode="auto">
          <a:xfrm>
            <a:off x="2254250" y="4219575"/>
            <a:ext cx="33496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0">
              <a:latin typeface="+mn-lt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AA7741-1559-4023-8E4B-576D2D59AAA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8" grpId="0"/>
      <p:bldP spid="139269" grpId="0"/>
      <p:bldP spid="139270" grpId="0"/>
      <p:bldP spid="139272" grpId="0" animBg="1"/>
      <p:bldP spid="139274" grpId="0" animBg="1"/>
      <p:bldP spid="139275" grpId="0" animBg="1"/>
      <p:bldP spid="139276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Letter Paper (8.5x11 in)</PresentationFormat>
  <Slides>17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Custom Design</vt:lpstr>
      <vt:lpstr>CE/CS/TE 4390 Computer Networks</vt:lpstr>
      <vt:lpstr>Socket Programming </vt:lpstr>
      <vt:lpstr>Socket Programming </vt:lpstr>
      <vt:lpstr>Socket Programming with UDP</vt:lpstr>
      <vt:lpstr>PowerPoint Presentation</vt:lpstr>
      <vt:lpstr>Client/server Socket Interaction: UDP</vt:lpstr>
      <vt:lpstr>Example: Java client (UDP)</vt:lpstr>
      <vt:lpstr>Example: Java client (UDP) - cont’d   </vt:lpstr>
      <vt:lpstr>Example: Java Server (UDP)</vt:lpstr>
      <vt:lpstr>Example: Java Server (UDP) – cont’d</vt:lpstr>
      <vt:lpstr>Socket Programming with TCP</vt:lpstr>
      <vt:lpstr>TCP Sockets based client-server programming</vt:lpstr>
      <vt:lpstr>Client/server Socket Interaction: TCP</vt:lpstr>
      <vt:lpstr>Example: Java Client (TCP)</vt:lpstr>
      <vt:lpstr>Example: Java client (TCP) – cont’d</vt:lpstr>
      <vt:lpstr>Example: Java server (TCP)</vt:lpstr>
      <vt:lpstr>Example: Java Server (TCP) – cont’d</vt:lpstr>
    </vt:vector>
  </TitlesOfParts>
  <Company>Bernd Bruegge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nn</dc:creator>
  <cp:revision>2</cp:revision>
  <dcterms:created xsi:type="dcterms:W3CDTF">2009-08-03T19:10:44Z</dcterms:created>
  <dcterms:modified xsi:type="dcterms:W3CDTF">2026-02-26T15:57:14Z</dcterms:modified>
</cp:coreProperties>
</file>